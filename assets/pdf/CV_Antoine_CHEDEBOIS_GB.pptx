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6858000" cy="9906000" type="A4"/>
  <p:notesSz cx="6858000" cy="9906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6278"/>
    <a:srgbClr val="8181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49"/>
    <p:restoredTop sz="94664"/>
  </p:normalViewPr>
  <p:slideViewPr>
    <p:cSldViewPr>
      <p:cViewPr>
        <p:scale>
          <a:sx n="100" d="100"/>
          <a:sy n="100" d="100"/>
        </p:scale>
        <p:origin x="366" y="-163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14350" y="3070860"/>
            <a:ext cx="5829300" cy="20802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028700" y="5547360"/>
            <a:ext cx="4800600" cy="2476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rgbClr val="3A6278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3A6278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42900" y="2278380"/>
            <a:ext cx="2983230" cy="6537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531870" y="2278380"/>
            <a:ext cx="2983230" cy="6537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519556"/>
            <a:ext cx="231775" cy="192405"/>
          </a:xfrm>
          <a:custGeom>
            <a:avLst/>
            <a:gdLst/>
            <a:ahLst/>
            <a:cxnLst/>
            <a:rect l="l" t="t" r="r" b="b"/>
            <a:pathLst>
              <a:path w="231775" h="192404">
                <a:moveTo>
                  <a:pt x="231343" y="0"/>
                </a:moveTo>
                <a:lnTo>
                  <a:pt x="0" y="1952"/>
                </a:lnTo>
                <a:lnTo>
                  <a:pt x="0" y="9533"/>
                </a:lnTo>
                <a:lnTo>
                  <a:pt x="230568" y="192277"/>
                </a:lnTo>
                <a:lnTo>
                  <a:pt x="231343" y="0"/>
                </a:lnTo>
                <a:close/>
              </a:path>
            </a:pathLst>
          </a:custGeom>
          <a:solidFill>
            <a:srgbClr val="2A46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72212" y="0"/>
            <a:ext cx="2156460" cy="9906000"/>
          </a:xfrm>
          <a:custGeom>
            <a:avLst/>
            <a:gdLst/>
            <a:ahLst/>
            <a:cxnLst/>
            <a:rect l="l" t="t" r="r" b="b"/>
            <a:pathLst>
              <a:path w="2156460" h="9906000">
                <a:moveTo>
                  <a:pt x="2156460" y="533400"/>
                </a:moveTo>
                <a:lnTo>
                  <a:pt x="0" y="533400"/>
                </a:lnTo>
                <a:lnTo>
                  <a:pt x="0" y="9906000"/>
                </a:lnTo>
                <a:lnTo>
                  <a:pt x="2156460" y="9906000"/>
                </a:lnTo>
                <a:lnTo>
                  <a:pt x="2156460" y="533400"/>
                </a:lnTo>
                <a:close/>
              </a:path>
              <a:path w="2156460" h="9906000">
                <a:moveTo>
                  <a:pt x="2156460" y="0"/>
                </a:moveTo>
                <a:lnTo>
                  <a:pt x="0" y="0"/>
                </a:lnTo>
                <a:lnTo>
                  <a:pt x="0" y="96012"/>
                </a:lnTo>
                <a:lnTo>
                  <a:pt x="2156460" y="96012"/>
                </a:lnTo>
                <a:lnTo>
                  <a:pt x="215646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96011"/>
            <a:ext cx="6858000" cy="437515"/>
          </a:xfrm>
          <a:custGeom>
            <a:avLst/>
            <a:gdLst/>
            <a:ahLst/>
            <a:cxnLst/>
            <a:rect l="l" t="t" r="r" b="b"/>
            <a:pathLst>
              <a:path w="6858000" h="437515">
                <a:moveTo>
                  <a:pt x="6858000" y="0"/>
                </a:moveTo>
                <a:lnTo>
                  <a:pt x="0" y="0"/>
                </a:lnTo>
                <a:lnTo>
                  <a:pt x="0" y="437388"/>
                </a:lnTo>
                <a:lnTo>
                  <a:pt x="6858000" y="437388"/>
                </a:lnTo>
                <a:lnTo>
                  <a:pt x="6858000" y="0"/>
                </a:lnTo>
                <a:close/>
              </a:path>
            </a:pathLst>
          </a:custGeom>
          <a:solidFill>
            <a:srgbClr val="3A6278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322576" y="0"/>
            <a:ext cx="4389882" cy="90601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00960" y="-4444"/>
            <a:ext cx="3808729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328798" y="4136263"/>
            <a:ext cx="4431030" cy="57156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rgbClr val="3A6278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331720" y="9212580"/>
            <a:ext cx="2194560" cy="495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42900" y="9212580"/>
            <a:ext cx="1577340" cy="495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937760" y="9212580"/>
            <a:ext cx="1577340" cy="495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hyperlink" Target="mailto:antoinechedebois@gmail.com" TargetMode="External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hyperlink" Target="https://antoinechedebois.com/index_gb.html" TargetMode="External"/><Relationship Id="rId9" Type="http://schemas.openxmlformats.org/officeDocument/2006/relationships/image" Target="../media/image7.png"/><Relationship Id="rId14" Type="http://schemas.openxmlformats.org/officeDocument/2006/relationships/image" Target="../media/image12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hyperlink" Target="https://repoinsightx.com/" TargetMode="External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32283" y="1371600"/>
            <a:ext cx="1969262" cy="8534399"/>
          </a:xfrm>
          <a:custGeom>
            <a:avLst/>
            <a:gdLst/>
            <a:ahLst/>
            <a:cxnLst/>
            <a:rect l="l" t="t" r="r" b="b"/>
            <a:pathLst>
              <a:path w="2156460" h="7998459">
                <a:moveTo>
                  <a:pt x="0" y="7997951"/>
                </a:moveTo>
                <a:lnTo>
                  <a:pt x="2156460" y="7997951"/>
                </a:lnTo>
                <a:lnTo>
                  <a:pt x="2156460" y="0"/>
                </a:lnTo>
                <a:lnTo>
                  <a:pt x="0" y="0"/>
                </a:lnTo>
                <a:lnTo>
                  <a:pt x="0" y="7997951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 lang="en-US" noProof="0" dirty="0"/>
          </a:p>
        </p:txBody>
      </p:sp>
      <p:sp>
        <p:nvSpPr>
          <p:cNvPr id="3" name="object 3"/>
          <p:cNvSpPr/>
          <p:nvPr/>
        </p:nvSpPr>
        <p:spPr>
          <a:xfrm>
            <a:off x="215645" y="1"/>
            <a:ext cx="1971294" cy="79729"/>
          </a:xfrm>
          <a:custGeom>
            <a:avLst/>
            <a:gdLst/>
            <a:ahLst/>
            <a:cxnLst/>
            <a:rect l="l" t="t" r="r" b="b"/>
            <a:pathLst>
              <a:path w="2156460" h="96520">
                <a:moveTo>
                  <a:pt x="0" y="96012"/>
                </a:moveTo>
                <a:lnTo>
                  <a:pt x="2156460" y="96012"/>
                </a:lnTo>
                <a:lnTo>
                  <a:pt x="2156460" y="0"/>
                </a:lnTo>
                <a:lnTo>
                  <a:pt x="0" y="0"/>
                </a:lnTo>
                <a:lnTo>
                  <a:pt x="0" y="96012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 lang="en-US" noProof="0" dirty="0"/>
          </a:p>
        </p:txBody>
      </p:sp>
      <p:grpSp>
        <p:nvGrpSpPr>
          <p:cNvPr id="4" name="object 4"/>
          <p:cNvGrpSpPr/>
          <p:nvPr/>
        </p:nvGrpSpPr>
        <p:grpSpPr>
          <a:xfrm>
            <a:off x="0" y="56388"/>
            <a:ext cx="6859843" cy="2043303"/>
            <a:chOff x="-1843" y="56388"/>
            <a:chExt cx="6859843" cy="2043303"/>
          </a:xfrm>
        </p:grpSpPr>
        <p:sp>
          <p:nvSpPr>
            <p:cNvPr id="5" name="object 5"/>
            <p:cNvSpPr/>
            <p:nvPr/>
          </p:nvSpPr>
          <p:spPr>
            <a:xfrm>
              <a:off x="-1843" y="1907286"/>
              <a:ext cx="241300" cy="192405"/>
            </a:xfrm>
            <a:custGeom>
              <a:avLst/>
              <a:gdLst/>
              <a:ahLst/>
              <a:cxnLst/>
              <a:rect l="l" t="t" r="r" b="b"/>
              <a:pathLst>
                <a:path w="241300" h="192405">
                  <a:moveTo>
                    <a:pt x="240806" y="0"/>
                  </a:moveTo>
                  <a:lnTo>
                    <a:pt x="0" y="2032"/>
                  </a:lnTo>
                  <a:lnTo>
                    <a:pt x="240031" y="192150"/>
                  </a:lnTo>
                  <a:lnTo>
                    <a:pt x="240806" y="0"/>
                  </a:lnTo>
                  <a:close/>
                </a:path>
              </a:pathLst>
            </a:custGeom>
            <a:solidFill>
              <a:srgbClr val="2A4653"/>
            </a:solidFill>
          </p:spPr>
          <p:txBody>
            <a:bodyPr wrap="square" lIns="0" tIns="0" rIns="0" bIns="0" rtlCol="0"/>
            <a:lstStyle/>
            <a:p>
              <a:endParaRPr lang="en-US" noProof="0" dirty="0"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96011"/>
              <a:ext cx="6858000" cy="1812289"/>
            </a:xfrm>
            <a:custGeom>
              <a:avLst/>
              <a:gdLst/>
              <a:ahLst/>
              <a:cxnLst/>
              <a:rect l="l" t="t" r="r" b="b"/>
              <a:pathLst>
                <a:path w="6858000" h="1812289">
                  <a:moveTo>
                    <a:pt x="6858000" y="0"/>
                  </a:moveTo>
                  <a:lnTo>
                    <a:pt x="0" y="0"/>
                  </a:lnTo>
                  <a:lnTo>
                    <a:pt x="0" y="1812036"/>
                  </a:lnTo>
                  <a:lnTo>
                    <a:pt x="6858000" y="1812036"/>
                  </a:lnTo>
                  <a:lnTo>
                    <a:pt x="6858000" y="0"/>
                  </a:lnTo>
                  <a:close/>
                </a:path>
              </a:pathLst>
            </a:custGeom>
            <a:solidFill>
              <a:srgbClr val="3A6278"/>
            </a:solidFill>
          </p:spPr>
          <p:txBody>
            <a:bodyPr wrap="square" lIns="0" tIns="0" rIns="0" bIns="0" rtlCol="0"/>
            <a:lstStyle/>
            <a:p>
              <a:endParaRPr lang="en-US" noProof="0" dirty="0"/>
            </a:p>
          </p:txBody>
        </p:sp>
        <p:sp>
          <p:nvSpPr>
            <p:cNvPr id="8" name="object 8"/>
            <p:cNvSpPr/>
            <p:nvPr/>
          </p:nvSpPr>
          <p:spPr>
            <a:xfrm>
              <a:off x="425196" y="144780"/>
              <a:ext cx="1664970" cy="1665605"/>
            </a:xfrm>
            <a:custGeom>
              <a:avLst/>
              <a:gdLst/>
              <a:ahLst/>
              <a:cxnLst/>
              <a:rect l="l" t="t" r="r" b="b"/>
              <a:pathLst>
                <a:path w="1664970" h="1665605">
                  <a:moveTo>
                    <a:pt x="971656" y="38100"/>
                  </a:moveTo>
                  <a:lnTo>
                    <a:pt x="833970" y="38100"/>
                  </a:lnTo>
                  <a:lnTo>
                    <a:pt x="915416" y="42164"/>
                  </a:lnTo>
                  <a:lnTo>
                    <a:pt x="994282" y="54483"/>
                  </a:lnTo>
                  <a:lnTo>
                    <a:pt x="1046861" y="68072"/>
                  </a:lnTo>
                  <a:lnTo>
                    <a:pt x="1050036" y="55752"/>
                  </a:lnTo>
                  <a:lnTo>
                    <a:pt x="996188" y="41910"/>
                  </a:lnTo>
                  <a:lnTo>
                    <a:pt x="971656" y="38100"/>
                  </a:lnTo>
                  <a:close/>
                </a:path>
                <a:path w="1664970" h="1665605">
                  <a:moveTo>
                    <a:pt x="750722" y="29337"/>
                  </a:moveTo>
                  <a:lnTo>
                    <a:pt x="705065" y="36449"/>
                  </a:lnTo>
                  <a:lnTo>
                    <a:pt x="707021" y="49022"/>
                  </a:lnTo>
                  <a:lnTo>
                    <a:pt x="751047" y="42164"/>
                  </a:lnTo>
                  <a:lnTo>
                    <a:pt x="750671" y="42164"/>
                  </a:lnTo>
                  <a:lnTo>
                    <a:pt x="750049" y="29464"/>
                  </a:lnTo>
                  <a:lnTo>
                    <a:pt x="750736" y="29430"/>
                  </a:lnTo>
                  <a:close/>
                </a:path>
                <a:path w="1664970" h="1665605">
                  <a:moveTo>
                    <a:pt x="973070" y="12700"/>
                  </a:moveTo>
                  <a:lnTo>
                    <a:pt x="832726" y="12700"/>
                  </a:lnTo>
                  <a:lnTo>
                    <a:pt x="916686" y="16764"/>
                  </a:lnTo>
                  <a:lnTo>
                    <a:pt x="998219" y="29464"/>
                  </a:lnTo>
                  <a:lnTo>
                    <a:pt x="1053211" y="43434"/>
                  </a:lnTo>
                  <a:lnTo>
                    <a:pt x="1056386" y="31115"/>
                  </a:lnTo>
                  <a:lnTo>
                    <a:pt x="1000125" y="16891"/>
                  </a:lnTo>
                  <a:lnTo>
                    <a:pt x="973070" y="12700"/>
                  </a:lnTo>
                  <a:close/>
                </a:path>
                <a:path w="1664970" h="1665605">
                  <a:moveTo>
                    <a:pt x="750736" y="29430"/>
                  </a:moveTo>
                  <a:lnTo>
                    <a:pt x="750049" y="29464"/>
                  </a:lnTo>
                  <a:lnTo>
                    <a:pt x="750671" y="42164"/>
                  </a:lnTo>
                  <a:lnTo>
                    <a:pt x="751219" y="42137"/>
                  </a:lnTo>
                  <a:lnTo>
                    <a:pt x="752678" y="41910"/>
                  </a:lnTo>
                  <a:lnTo>
                    <a:pt x="750736" y="29430"/>
                  </a:lnTo>
                  <a:close/>
                </a:path>
                <a:path w="1664970" h="1665605">
                  <a:moveTo>
                    <a:pt x="751219" y="42137"/>
                  </a:moveTo>
                  <a:lnTo>
                    <a:pt x="750671" y="42164"/>
                  </a:lnTo>
                  <a:lnTo>
                    <a:pt x="751047" y="42164"/>
                  </a:lnTo>
                  <a:lnTo>
                    <a:pt x="751219" y="42137"/>
                  </a:lnTo>
                  <a:close/>
                </a:path>
                <a:path w="1664970" h="1665605">
                  <a:moveTo>
                    <a:pt x="833348" y="25400"/>
                  </a:moveTo>
                  <a:lnTo>
                    <a:pt x="750736" y="29430"/>
                  </a:lnTo>
                  <a:lnTo>
                    <a:pt x="752678" y="41910"/>
                  </a:lnTo>
                  <a:lnTo>
                    <a:pt x="751219" y="42137"/>
                  </a:lnTo>
                  <a:lnTo>
                    <a:pt x="833970" y="38100"/>
                  </a:lnTo>
                  <a:lnTo>
                    <a:pt x="971656" y="38100"/>
                  </a:lnTo>
                  <a:lnTo>
                    <a:pt x="916051" y="29464"/>
                  </a:lnTo>
                  <a:lnTo>
                    <a:pt x="833348" y="25400"/>
                  </a:lnTo>
                  <a:close/>
                </a:path>
                <a:path w="1664970" h="1665605">
                  <a:moveTo>
                    <a:pt x="746810" y="4318"/>
                  </a:moveTo>
                  <a:lnTo>
                    <a:pt x="701154" y="11429"/>
                  </a:lnTo>
                  <a:lnTo>
                    <a:pt x="703110" y="23875"/>
                  </a:lnTo>
                  <a:lnTo>
                    <a:pt x="748766" y="16764"/>
                  </a:lnTo>
                  <a:lnTo>
                    <a:pt x="746810" y="4318"/>
                  </a:lnTo>
                  <a:close/>
                </a:path>
                <a:path w="1664970" h="1665605">
                  <a:moveTo>
                    <a:pt x="832116" y="0"/>
                  </a:moveTo>
                  <a:lnTo>
                    <a:pt x="748817" y="4064"/>
                  </a:lnTo>
                  <a:lnTo>
                    <a:pt x="749439" y="16764"/>
                  </a:lnTo>
                  <a:lnTo>
                    <a:pt x="832726" y="12700"/>
                  </a:lnTo>
                  <a:lnTo>
                    <a:pt x="973070" y="12700"/>
                  </a:lnTo>
                  <a:lnTo>
                    <a:pt x="917320" y="4064"/>
                  </a:lnTo>
                  <a:lnTo>
                    <a:pt x="832116" y="0"/>
                  </a:lnTo>
                  <a:close/>
                </a:path>
                <a:path w="1664970" h="1665605">
                  <a:moveTo>
                    <a:pt x="1156589" y="93091"/>
                  </a:moveTo>
                  <a:lnTo>
                    <a:pt x="1151001" y="104521"/>
                  </a:lnTo>
                  <a:lnTo>
                    <a:pt x="1185291" y="121158"/>
                  </a:lnTo>
                  <a:lnTo>
                    <a:pt x="1190879" y="109727"/>
                  </a:lnTo>
                  <a:lnTo>
                    <a:pt x="1156589" y="93091"/>
                  </a:lnTo>
                  <a:close/>
                </a:path>
                <a:path w="1664970" h="1665605">
                  <a:moveTo>
                    <a:pt x="1167638" y="70230"/>
                  </a:moveTo>
                  <a:lnTo>
                    <a:pt x="1162050" y="81661"/>
                  </a:lnTo>
                  <a:lnTo>
                    <a:pt x="1196340" y="98298"/>
                  </a:lnTo>
                  <a:lnTo>
                    <a:pt x="1201928" y="86868"/>
                  </a:lnTo>
                  <a:lnTo>
                    <a:pt x="1167638" y="70230"/>
                  </a:lnTo>
                  <a:close/>
                </a:path>
                <a:path w="1664970" h="1665605">
                  <a:moveTo>
                    <a:pt x="1288669" y="166243"/>
                  </a:moveTo>
                  <a:lnTo>
                    <a:pt x="1281049" y="176402"/>
                  </a:lnTo>
                  <a:lnTo>
                    <a:pt x="1311529" y="199263"/>
                  </a:lnTo>
                  <a:lnTo>
                    <a:pt x="1319149" y="189102"/>
                  </a:lnTo>
                  <a:lnTo>
                    <a:pt x="1288669" y="166243"/>
                  </a:lnTo>
                  <a:close/>
                </a:path>
                <a:path w="1664970" h="1665605">
                  <a:moveTo>
                    <a:pt x="1303782" y="145923"/>
                  </a:moveTo>
                  <a:lnTo>
                    <a:pt x="1296162" y="156083"/>
                  </a:lnTo>
                  <a:lnTo>
                    <a:pt x="1326769" y="178816"/>
                  </a:lnTo>
                  <a:lnTo>
                    <a:pt x="1334389" y="168655"/>
                  </a:lnTo>
                  <a:lnTo>
                    <a:pt x="1303782" y="145923"/>
                  </a:lnTo>
                  <a:close/>
                </a:path>
                <a:path w="1664970" h="1665605">
                  <a:moveTo>
                    <a:pt x="1404747" y="262890"/>
                  </a:moveTo>
                  <a:lnTo>
                    <a:pt x="1395349" y="271399"/>
                  </a:lnTo>
                  <a:lnTo>
                    <a:pt x="1447292" y="328168"/>
                  </a:lnTo>
                  <a:lnTo>
                    <a:pt x="1492758" y="389254"/>
                  </a:lnTo>
                  <a:lnTo>
                    <a:pt x="1532382" y="454787"/>
                  </a:lnTo>
                  <a:lnTo>
                    <a:pt x="1562735" y="517398"/>
                  </a:lnTo>
                  <a:lnTo>
                    <a:pt x="1574165" y="511937"/>
                  </a:lnTo>
                  <a:lnTo>
                    <a:pt x="1543304" y="448183"/>
                  </a:lnTo>
                  <a:lnTo>
                    <a:pt x="1502918" y="381635"/>
                  </a:lnTo>
                  <a:lnTo>
                    <a:pt x="1456563" y="319531"/>
                  </a:lnTo>
                  <a:lnTo>
                    <a:pt x="1404747" y="262890"/>
                  </a:lnTo>
                  <a:close/>
                </a:path>
                <a:path w="1664970" h="1665605">
                  <a:moveTo>
                    <a:pt x="1423416" y="245745"/>
                  </a:moveTo>
                  <a:lnTo>
                    <a:pt x="1414018" y="254253"/>
                  </a:lnTo>
                  <a:lnTo>
                    <a:pt x="1465961" y="311023"/>
                  </a:lnTo>
                  <a:lnTo>
                    <a:pt x="1513205" y="374142"/>
                  </a:lnTo>
                  <a:lnTo>
                    <a:pt x="1554099" y="441578"/>
                  </a:lnTo>
                  <a:lnTo>
                    <a:pt x="1585595" y="506349"/>
                  </a:lnTo>
                  <a:lnTo>
                    <a:pt x="1597025" y="500761"/>
                  </a:lnTo>
                  <a:lnTo>
                    <a:pt x="1565021" y="434975"/>
                  </a:lnTo>
                  <a:lnTo>
                    <a:pt x="1523365" y="366522"/>
                  </a:lnTo>
                  <a:lnTo>
                    <a:pt x="1475359" y="302387"/>
                  </a:lnTo>
                  <a:lnTo>
                    <a:pt x="1423416" y="245745"/>
                  </a:lnTo>
                  <a:close/>
                </a:path>
                <a:path w="1664970" h="1665605">
                  <a:moveTo>
                    <a:pt x="1635633" y="612267"/>
                  </a:moveTo>
                  <a:lnTo>
                    <a:pt x="1623314" y="615442"/>
                  </a:lnTo>
                  <a:lnTo>
                    <a:pt x="1632712" y="652399"/>
                  </a:lnTo>
                  <a:lnTo>
                    <a:pt x="1645031" y="649224"/>
                  </a:lnTo>
                  <a:lnTo>
                    <a:pt x="1635633" y="612267"/>
                  </a:lnTo>
                  <a:close/>
                </a:path>
                <a:path w="1664970" h="1665605">
                  <a:moveTo>
                    <a:pt x="1610995" y="618617"/>
                  </a:moveTo>
                  <a:lnTo>
                    <a:pt x="1598676" y="621665"/>
                  </a:lnTo>
                  <a:lnTo>
                    <a:pt x="1608074" y="658622"/>
                  </a:lnTo>
                  <a:lnTo>
                    <a:pt x="1620393" y="655447"/>
                  </a:lnTo>
                  <a:lnTo>
                    <a:pt x="1610995" y="618617"/>
                  </a:lnTo>
                  <a:close/>
                </a:path>
                <a:path w="1664970" h="1665605">
                  <a:moveTo>
                    <a:pt x="1662811" y="765810"/>
                  </a:moveTo>
                  <a:lnTo>
                    <a:pt x="1650111" y="766445"/>
                  </a:lnTo>
                  <a:lnTo>
                    <a:pt x="1652016" y="804545"/>
                  </a:lnTo>
                  <a:lnTo>
                    <a:pt x="1664716" y="803910"/>
                  </a:lnTo>
                  <a:lnTo>
                    <a:pt x="1662811" y="765810"/>
                  </a:lnTo>
                  <a:close/>
                </a:path>
                <a:path w="1664970" h="1665605">
                  <a:moveTo>
                    <a:pt x="1637538" y="767079"/>
                  </a:moveTo>
                  <a:lnTo>
                    <a:pt x="1624838" y="767715"/>
                  </a:lnTo>
                  <a:lnTo>
                    <a:pt x="1626616" y="805688"/>
                  </a:lnTo>
                  <a:lnTo>
                    <a:pt x="1639316" y="805052"/>
                  </a:lnTo>
                  <a:lnTo>
                    <a:pt x="1637538" y="767079"/>
                  </a:lnTo>
                  <a:close/>
                </a:path>
                <a:path w="1664970" h="1665605">
                  <a:moveTo>
                    <a:pt x="1648841" y="919861"/>
                  </a:moveTo>
                  <a:lnTo>
                    <a:pt x="1636649" y="998220"/>
                  </a:lnTo>
                  <a:lnTo>
                    <a:pt x="1616583" y="1076833"/>
                  </a:lnTo>
                  <a:lnTo>
                    <a:pt x="1589151" y="1152271"/>
                  </a:lnTo>
                  <a:lnTo>
                    <a:pt x="1560322" y="1211706"/>
                  </a:lnTo>
                  <a:lnTo>
                    <a:pt x="1571752" y="1217295"/>
                  </a:lnTo>
                  <a:lnTo>
                    <a:pt x="1601089" y="1156589"/>
                  </a:lnTo>
                  <a:lnTo>
                    <a:pt x="1628902" y="1079880"/>
                  </a:lnTo>
                  <a:lnTo>
                    <a:pt x="1649222" y="1000125"/>
                  </a:lnTo>
                  <a:lnTo>
                    <a:pt x="1661414" y="921893"/>
                  </a:lnTo>
                  <a:lnTo>
                    <a:pt x="1648841" y="919861"/>
                  </a:lnTo>
                  <a:close/>
                </a:path>
                <a:path w="1664970" h="1665605">
                  <a:moveTo>
                    <a:pt x="1623822" y="916051"/>
                  </a:moveTo>
                  <a:lnTo>
                    <a:pt x="1611630" y="994283"/>
                  </a:lnTo>
                  <a:lnTo>
                    <a:pt x="1592072" y="1070483"/>
                  </a:lnTo>
                  <a:lnTo>
                    <a:pt x="1565275" y="1143508"/>
                  </a:lnTo>
                  <a:lnTo>
                    <a:pt x="1537462" y="1200530"/>
                  </a:lnTo>
                  <a:lnTo>
                    <a:pt x="1548892" y="1206119"/>
                  </a:lnTo>
                  <a:lnTo>
                    <a:pt x="1577213" y="1147826"/>
                  </a:lnTo>
                  <a:lnTo>
                    <a:pt x="1604391" y="1073658"/>
                  </a:lnTo>
                  <a:lnTo>
                    <a:pt x="1624076" y="996188"/>
                  </a:lnTo>
                  <a:lnTo>
                    <a:pt x="1636268" y="917955"/>
                  </a:lnTo>
                  <a:lnTo>
                    <a:pt x="1623822" y="916051"/>
                  </a:lnTo>
                  <a:close/>
                </a:path>
                <a:path w="1664970" h="1665605">
                  <a:moveTo>
                    <a:pt x="1499870" y="1309877"/>
                  </a:moveTo>
                  <a:lnTo>
                    <a:pt x="1477010" y="1340358"/>
                  </a:lnTo>
                  <a:lnTo>
                    <a:pt x="1487170" y="1347977"/>
                  </a:lnTo>
                  <a:lnTo>
                    <a:pt x="1510030" y="1317498"/>
                  </a:lnTo>
                  <a:lnTo>
                    <a:pt x="1499870" y="1309877"/>
                  </a:lnTo>
                  <a:close/>
                </a:path>
                <a:path w="1664970" h="1665605">
                  <a:moveTo>
                    <a:pt x="1479423" y="1294638"/>
                  </a:moveTo>
                  <a:lnTo>
                    <a:pt x="1456690" y="1325245"/>
                  </a:lnTo>
                  <a:lnTo>
                    <a:pt x="1466850" y="1332738"/>
                  </a:lnTo>
                  <a:lnTo>
                    <a:pt x="1489583" y="1302258"/>
                  </a:lnTo>
                  <a:lnTo>
                    <a:pt x="1479423" y="1294638"/>
                  </a:lnTo>
                  <a:close/>
                </a:path>
                <a:path w="1664970" h="1665605">
                  <a:moveTo>
                    <a:pt x="1399286" y="1425575"/>
                  </a:moveTo>
                  <a:lnTo>
                    <a:pt x="1371219" y="1451355"/>
                  </a:lnTo>
                  <a:lnTo>
                    <a:pt x="1379728" y="1460627"/>
                  </a:lnTo>
                  <a:lnTo>
                    <a:pt x="1407795" y="1434973"/>
                  </a:lnTo>
                  <a:lnTo>
                    <a:pt x="1399286" y="1425575"/>
                  </a:lnTo>
                  <a:close/>
                </a:path>
                <a:path w="1664970" h="1665605">
                  <a:moveTo>
                    <a:pt x="1382141" y="1406778"/>
                  </a:moveTo>
                  <a:lnTo>
                    <a:pt x="1353947" y="1432560"/>
                  </a:lnTo>
                  <a:lnTo>
                    <a:pt x="1362583" y="1441958"/>
                  </a:lnTo>
                  <a:lnTo>
                    <a:pt x="1390650" y="1416177"/>
                  </a:lnTo>
                  <a:lnTo>
                    <a:pt x="1382141" y="1406778"/>
                  </a:lnTo>
                  <a:close/>
                </a:path>
                <a:path w="1664970" h="1665605">
                  <a:moveTo>
                    <a:pt x="1279144" y="1520952"/>
                  </a:moveTo>
                  <a:lnTo>
                    <a:pt x="1224407" y="1554099"/>
                  </a:lnTo>
                  <a:lnTo>
                    <a:pt x="1152779" y="1588897"/>
                  </a:lnTo>
                  <a:lnTo>
                    <a:pt x="1077341" y="1616455"/>
                  </a:lnTo>
                  <a:lnTo>
                    <a:pt x="998728" y="1636522"/>
                  </a:lnTo>
                  <a:lnTo>
                    <a:pt x="996569" y="1636902"/>
                  </a:lnTo>
                  <a:lnTo>
                    <a:pt x="998601" y="1649476"/>
                  </a:lnTo>
                  <a:lnTo>
                    <a:pt x="1081786" y="1628394"/>
                  </a:lnTo>
                  <a:lnTo>
                    <a:pt x="1158367" y="1600327"/>
                  </a:lnTo>
                  <a:lnTo>
                    <a:pt x="1231011" y="1565021"/>
                  </a:lnTo>
                  <a:lnTo>
                    <a:pt x="1285748" y="1531874"/>
                  </a:lnTo>
                  <a:lnTo>
                    <a:pt x="1279144" y="1520952"/>
                  </a:lnTo>
                  <a:close/>
                </a:path>
                <a:path w="1664970" h="1665605">
                  <a:moveTo>
                    <a:pt x="1266063" y="1499235"/>
                  </a:moveTo>
                  <a:lnTo>
                    <a:pt x="1211326" y="1532381"/>
                  </a:lnTo>
                  <a:lnTo>
                    <a:pt x="1141730" y="1566037"/>
                  </a:lnTo>
                  <a:lnTo>
                    <a:pt x="1068705" y="1592579"/>
                  </a:lnTo>
                  <a:lnTo>
                    <a:pt x="992505" y="1611884"/>
                  </a:lnTo>
                  <a:lnTo>
                    <a:pt x="994663" y="1624329"/>
                  </a:lnTo>
                  <a:lnTo>
                    <a:pt x="1073023" y="1604518"/>
                  </a:lnTo>
                  <a:lnTo>
                    <a:pt x="1147318" y="1577467"/>
                  </a:lnTo>
                  <a:lnTo>
                    <a:pt x="1217930" y="1543303"/>
                  </a:lnTo>
                  <a:lnTo>
                    <a:pt x="1272667" y="1510029"/>
                  </a:lnTo>
                  <a:lnTo>
                    <a:pt x="1266063" y="1499235"/>
                  </a:lnTo>
                  <a:close/>
                </a:path>
                <a:path w="1664970" h="1665605">
                  <a:moveTo>
                    <a:pt x="882650" y="1651000"/>
                  </a:moveTo>
                  <a:lnTo>
                    <a:pt x="844588" y="1652904"/>
                  </a:lnTo>
                  <a:lnTo>
                    <a:pt x="845185" y="1665477"/>
                  </a:lnTo>
                  <a:lnTo>
                    <a:pt x="883285" y="1663700"/>
                  </a:lnTo>
                  <a:lnTo>
                    <a:pt x="882650" y="1651000"/>
                  </a:lnTo>
                  <a:close/>
                </a:path>
                <a:path w="1664970" h="1665605">
                  <a:moveTo>
                    <a:pt x="881380" y="1625600"/>
                  </a:moveTo>
                  <a:lnTo>
                    <a:pt x="843343" y="1627504"/>
                  </a:lnTo>
                  <a:lnTo>
                    <a:pt x="843965" y="1640204"/>
                  </a:lnTo>
                  <a:lnTo>
                    <a:pt x="882015" y="1638300"/>
                  </a:lnTo>
                  <a:lnTo>
                    <a:pt x="881380" y="1625600"/>
                  </a:lnTo>
                  <a:close/>
                </a:path>
                <a:path w="1664970" h="1665605">
                  <a:moveTo>
                    <a:pt x="691692" y="1640331"/>
                  </a:moveTo>
                  <a:lnTo>
                    <a:pt x="689749" y="1652904"/>
                  </a:lnTo>
                  <a:lnTo>
                    <a:pt x="727392" y="1658747"/>
                  </a:lnTo>
                  <a:lnTo>
                    <a:pt x="729348" y="1646301"/>
                  </a:lnTo>
                  <a:lnTo>
                    <a:pt x="691692" y="1640331"/>
                  </a:lnTo>
                  <a:close/>
                </a:path>
                <a:path w="1664970" h="1665605">
                  <a:moveTo>
                    <a:pt x="695604" y="1615313"/>
                  </a:moveTo>
                  <a:lnTo>
                    <a:pt x="693648" y="1627886"/>
                  </a:lnTo>
                  <a:lnTo>
                    <a:pt x="731304" y="1633727"/>
                  </a:lnTo>
                  <a:lnTo>
                    <a:pt x="733259" y="1621154"/>
                  </a:lnTo>
                  <a:lnTo>
                    <a:pt x="695604" y="1615313"/>
                  </a:lnTo>
                  <a:close/>
                </a:path>
                <a:path w="1664970" h="1665605">
                  <a:moveTo>
                    <a:pt x="312051" y="1466850"/>
                  </a:moveTo>
                  <a:lnTo>
                    <a:pt x="368007" y="1524380"/>
                  </a:lnTo>
                  <a:lnTo>
                    <a:pt x="436587" y="1565783"/>
                  </a:lnTo>
                  <a:lnTo>
                    <a:pt x="509523" y="1601089"/>
                  </a:lnTo>
                  <a:lnTo>
                    <a:pt x="575233" y="1625092"/>
                  </a:lnTo>
                  <a:lnTo>
                    <a:pt x="579577" y="1613153"/>
                  </a:lnTo>
                  <a:lnTo>
                    <a:pt x="513867" y="1589151"/>
                  </a:lnTo>
                  <a:lnTo>
                    <a:pt x="442137" y="1554352"/>
                  </a:lnTo>
                  <a:lnTo>
                    <a:pt x="374586" y="1513459"/>
                  </a:lnTo>
                  <a:lnTo>
                    <a:pt x="312051" y="1466850"/>
                  </a:lnTo>
                  <a:close/>
                </a:path>
                <a:path w="1664970" h="1665605">
                  <a:moveTo>
                    <a:pt x="327253" y="1446529"/>
                  </a:moveTo>
                  <a:lnTo>
                    <a:pt x="381165" y="1502664"/>
                  </a:lnTo>
                  <a:lnTo>
                    <a:pt x="447675" y="1542923"/>
                  </a:lnTo>
                  <a:lnTo>
                    <a:pt x="518210" y="1577213"/>
                  </a:lnTo>
                  <a:lnTo>
                    <a:pt x="583920" y="1601216"/>
                  </a:lnTo>
                  <a:lnTo>
                    <a:pt x="588264" y="1589277"/>
                  </a:lnTo>
                  <a:lnTo>
                    <a:pt x="522554" y="1565275"/>
                  </a:lnTo>
                  <a:lnTo>
                    <a:pt x="453224" y="1531493"/>
                  </a:lnTo>
                  <a:lnTo>
                    <a:pt x="387756" y="1491742"/>
                  </a:lnTo>
                  <a:lnTo>
                    <a:pt x="327253" y="1446529"/>
                  </a:lnTo>
                  <a:close/>
                </a:path>
                <a:path w="1664970" h="1665605">
                  <a:moveTo>
                    <a:pt x="203288" y="1358646"/>
                  </a:moveTo>
                  <a:lnTo>
                    <a:pt x="193929" y="1367154"/>
                  </a:lnTo>
                  <a:lnTo>
                    <a:pt x="219646" y="1395222"/>
                  </a:lnTo>
                  <a:lnTo>
                    <a:pt x="229019" y="1386713"/>
                  </a:lnTo>
                  <a:lnTo>
                    <a:pt x="203288" y="1358646"/>
                  </a:lnTo>
                  <a:close/>
                </a:path>
                <a:path w="1664970" h="1665605">
                  <a:moveTo>
                    <a:pt x="222021" y="1341501"/>
                  </a:moveTo>
                  <a:lnTo>
                    <a:pt x="212661" y="1350010"/>
                  </a:lnTo>
                  <a:lnTo>
                    <a:pt x="238391" y="1378077"/>
                  </a:lnTo>
                  <a:lnTo>
                    <a:pt x="247751" y="1369568"/>
                  </a:lnTo>
                  <a:lnTo>
                    <a:pt x="222021" y="1341501"/>
                  </a:lnTo>
                  <a:close/>
                </a:path>
                <a:path w="1664970" h="1665605">
                  <a:moveTo>
                    <a:pt x="116560" y="1232027"/>
                  </a:moveTo>
                  <a:lnTo>
                    <a:pt x="105702" y="1238630"/>
                  </a:lnTo>
                  <a:lnTo>
                    <a:pt x="125450" y="1271270"/>
                  </a:lnTo>
                  <a:lnTo>
                    <a:pt x="136309" y="1264666"/>
                  </a:lnTo>
                  <a:lnTo>
                    <a:pt x="116560" y="1232027"/>
                  </a:lnTo>
                  <a:close/>
                </a:path>
                <a:path w="1664970" h="1665605">
                  <a:moveTo>
                    <a:pt x="138277" y="1218819"/>
                  </a:moveTo>
                  <a:lnTo>
                    <a:pt x="127419" y="1225423"/>
                  </a:lnTo>
                  <a:lnTo>
                    <a:pt x="147167" y="1258062"/>
                  </a:lnTo>
                  <a:lnTo>
                    <a:pt x="158026" y="1251458"/>
                  </a:lnTo>
                  <a:lnTo>
                    <a:pt x="138277" y="1218819"/>
                  </a:lnTo>
                  <a:close/>
                </a:path>
                <a:path w="1664970" h="1665605">
                  <a:moveTo>
                    <a:pt x="279" y="826389"/>
                  </a:moveTo>
                  <a:lnTo>
                    <a:pt x="4267" y="919226"/>
                  </a:lnTo>
                  <a:lnTo>
                    <a:pt x="17233" y="1001902"/>
                  </a:lnTo>
                  <a:lnTo>
                    <a:pt x="37693" y="1081786"/>
                  </a:lnTo>
                  <a:lnTo>
                    <a:pt x="55930" y="1131824"/>
                  </a:lnTo>
                  <a:lnTo>
                    <a:pt x="67856" y="1127505"/>
                  </a:lnTo>
                  <a:lnTo>
                    <a:pt x="49631" y="1077341"/>
                  </a:lnTo>
                  <a:lnTo>
                    <a:pt x="29540" y="998727"/>
                  </a:lnTo>
                  <a:lnTo>
                    <a:pt x="16814" y="917321"/>
                  </a:lnTo>
                  <a:lnTo>
                    <a:pt x="12718" y="834009"/>
                  </a:lnTo>
                  <a:lnTo>
                    <a:pt x="12743" y="832103"/>
                  </a:lnTo>
                  <a:lnTo>
                    <a:pt x="12966" y="827024"/>
                  </a:lnTo>
                  <a:lnTo>
                    <a:pt x="279" y="826389"/>
                  </a:lnTo>
                  <a:close/>
                </a:path>
                <a:path w="1664970" h="1665605">
                  <a:moveTo>
                    <a:pt x="25654" y="827531"/>
                  </a:moveTo>
                  <a:lnTo>
                    <a:pt x="25408" y="832103"/>
                  </a:lnTo>
                  <a:lnTo>
                    <a:pt x="25435" y="834009"/>
                  </a:lnTo>
                  <a:lnTo>
                    <a:pt x="29362" y="915416"/>
                  </a:lnTo>
                  <a:lnTo>
                    <a:pt x="41846" y="995679"/>
                  </a:lnTo>
                  <a:lnTo>
                    <a:pt x="61556" y="1073023"/>
                  </a:lnTo>
                  <a:lnTo>
                    <a:pt x="79794" y="1123061"/>
                  </a:lnTo>
                  <a:lnTo>
                    <a:pt x="91732" y="1118743"/>
                  </a:lnTo>
                  <a:lnTo>
                    <a:pt x="73494" y="1068704"/>
                  </a:lnTo>
                  <a:lnTo>
                    <a:pt x="54152" y="992504"/>
                  </a:lnTo>
                  <a:lnTo>
                    <a:pt x="41910" y="913384"/>
                  </a:lnTo>
                  <a:lnTo>
                    <a:pt x="38049" y="832103"/>
                  </a:lnTo>
                  <a:lnTo>
                    <a:pt x="38341" y="828167"/>
                  </a:lnTo>
                  <a:lnTo>
                    <a:pt x="25654" y="827531"/>
                  </a:lnTo>
                  <a:close/>
                </a:path>
                <a:path w="1664970" h="1665605">
                  <a:moveTo>
                    <a:pt x="15773" y="672973"/>
                  </a:moveTo>
                  <a:lnTo>
                    <a:pt x="9918" y="710565"/>
                  </a:lnTo>
                  <a:lnTo>
                    <a:pt x="22466" y="712470"/>
                  </a:lnTo>
                  <a:lnTo>
                    <a:pt x="28321" y="674877"/>
                  </a:lnTo>
                  <a:lnTo>
                    <a:pt x="15773" y="672973"/>
                  </a:lnTo>
                  <a:close/>
                </a:path>
                <a:path w="1664970" h="1665605">
                  <a:moveTo>
                    <a:pt x="40868" y="676783"/>
                  </a:moveTo>
                  <a:lnTo>
                    <a:pt x="35013" y="714501"/>
                  </a:lnTo>
                  <a:lnTo>
                    <a:pt x="47561" y="716406"/>
                  </a:lnTo>
                  <a:lnTo>
                    <a:pt x="53428" y="678815"/>
                  </a:lnTo>
                  <a:lnTo>
                    <a:pt x="40868" y="676783"/>
                  </a:lnTo>
                  <a:close/>
                </a:path>
                <a:path w="1664970" h="1665605">
                  <a:moveTo>
                    <a:pt x="83743" y="532129"/>
                  </a:moveTo>
                  <a:lnTo>
                    <a:pt x="70713" y="567944"/>
                  </a:lnTo>
                  <a:lnTo>
                    <a:pt x="82638" y="572262"/>
                  </a:lnTo>
                  <a:lnTo>
                    <a:pt x="95681" y="536448"/>
                  </a:lnTo>
                  <a:lnTo>
                    <a:pt x="83743" y="532129"/>
                  </a:lnTo>
                  <a:close/>
                </a:path>
                <a:path w="1664970" h="1665605">
                  <a:moveTo>
                    <a:pt x="59880" y="523494"/>
                  </a:moveTo>
                  <a:lnTo>
                    <a:pt x="46837" y="559180"/>
                  </a:lnTo>
                  <a:lnTo>
                    <a:pt x="58775" y="563626"/>
                  </a:lnTo>
                  <a:lnTo>
                    <a:pt x="71805" y="527812"/>
                  </a:lnTo>
                  <a:lnTo>
                    <a:pt x="59880" y="523494"/>
                  </a:lnTo>
                  <a:close/>
                </a:path>
                <a:path w="1664970" h="1665605">
                  <a:moveTo>
                    <a:pt x="328904" y="202565"/>
                  </a:moveTo>
                  <a:lnTo>
                    <a:pt x="262267" y="261874"/>
                  </a:lnTo>
                  <a:lnTo>
                    <a:pt x="209867" y="319024"/>
                  </a:lnTo>
                  <a:lnTo>
                    <a:pt x="163449" y="381126"/>
                  </a:lnTo>
                  <a:lnTo>
                    <a:pt x="133400" y="430784"/>
                  </a:lnTo>
                  <a:lnTo>
                    <a:pt x="144259" y="437261"/>
                  </a:lnTo>
                  <a:lnTo>
                    <a:pt x="174307" y="387730"/>
                  </a:lnTo>
                  <a:lnTo>
                    <a:pt x="220040" y="326644"/>
                  </a:lnTo>
                  <a:lnTo>
                    <a:pt x="271627" y="270383"/>
                  </a:lnTo>
                  <a:lnTo>
                    <a:pt x="328129" y="218821"/>
                  </a:lnTo>
                  <a:lnTo>
                    <a:pt x="336499" y="212725"/>
                  </a:lnTo>
                  <a:lnTo>
                    <a:pt x="328904" y="202565"/>
                  </a:lnTo>
                  <a:close/>
                </a:path>
                <a:path w="1664970" h="1665605">
                  <a:moveTo>
                    <a:pt x="313702" y="182118"/>
                  </a:moveTo>
                  <a:lnTo>
                    <a:pt x="243535" y="244728"/>
                  </a:lnTo>
                  <a:lnTo>
                    <a:pt x="189509" y="303911"/>
                  </a:lnTo>
                  <a:lnTo>
                    <a:pt x="141719" y="368046"/>
                  </a:lnTo>
                  <a:lnTo>
                    <a:pt x="111683" y="417575"/>
                  </a:lnTo>
                  <a:lnTo>
                    <a:pt x="122542" y="424179"/>
                  </a:lnTo>
                  <a:lnTo>
                    <a:pt x="152590" y="374650"/>
                  </a:lnTo>
                  <a:lnTo>
                    <a:pt x="199694" y="311403"/>
                  </a:lnTo>
                  <a:lnTo>
                    <a:pt x="252895" y="253238"/>
                  </a:lnTo>
                  <a:lnTo>
                    <a:pt x="310972" y="200151"/>
                  </a:lnTo>
                  <a:lnTo>
                    <a:pt x="321310" y="192277"/>
                  </a:lnTo>
                  <a:lnTo>
                    <a:pt x="313702" y="182118"/>
                  </a:lnTo>
                  <a:close/>
                </a:path>
                <a:path w="1664970" h="1665605">
                  <a:moveTo>
                    <a:pt x="455015" y="119506"/>
                  </a:moveTo>
                  <a:lnTo>
                    <a:pt x="448195" y="122809"/>
                  </a:lnTo>
                  <a:lnTo>
                    <a:pt x="422592" y="138302"/>
                  </a:lnTo>
                  <a:lnTo>
                    <a:pt x="429171" y="149225"/>
                  </a:lnTo>
                  <a:lnTo>
                    <a:pt x="454774" y="133730"/>
                  </a:lnTo>
                  <a:lnTo>
                    <a:pt x="460565" y="130937"/>
                  </a:lnTo>
                  <a:lnTo>
                    <a:pt x="455015" y="119506"/>
                  </a:lnTo>
                  <a:close/>
                </a:path>
                <a:path w="1664970" h="1665605">
                  <a:moveTo>
                    <a:pt x="443915" y="96647"/>
                  </a:moveTo>
                  <a:lnTo>
                    <a:pt x="435038" y="101092"/>
                  </a:lnTo>
                  <a:lnTo>
                    <a:pt x="409422" y="116586"/>
                  </a:lnTo>
                  <a:lnTo>
                    <a:pt x="416013" y="127508"/>
                  </a:lnTo>
                  <a:lnTo>
                    <a:pt x="441617" y="112014"/>
                  </a:lnTo>
                  <a:lnTo>
                    <a:pt x="449465" y="108076"/>
                  </a:lnTo>
                  <a:lnTo>
                    <a:pt x="443915" y="96647"/>
                  </a:lnTo>
                  <a:close/>
                </a:path>
                <a:path w="1664970" h="1665605">
                  <a:moveTo>
                    <a:pt x="594220" y="61341"/>
                  </a:moveTo>
                  <a:lnTo>
                    <a:pt x="593051" y="61595"/>
                  </a:lnTo>
                  <a:lnTo>
                    <a:pt x="558965" y="73914"/>
                  </a:lnTo>
                  <a:lnTo>
                    <a:pt x="563321" y="85851"/>
                  </a:lnTo>
                  <a:lnTo>
                    <a:pt x="597395" y="73533"/>
                  </a:lnTo>
                  <a:lnTo>
                    <a:pt x="594220" y="61341"/>
                  </a:lnTo>
                  <a:close/>
                </a:path>
                <a:path w="1664970" h="1665605">
                  <a:moveTo>
                    <a:pt x="587946" y="36702"/>
                  </a:moveTo>
                  <a:lnTo>
                    <a:pt x="584352" y="37719"/>
                  </a:lnTo>
                  <a:lnTo>
                    <a:pt x="550278" y="50165"/>
                  </a:lnTo>
                  <a:lnTo>
                    <a:pt x="554621" y="61975"/>
                  </a:lnTo>
                  <a:lnTo>
                    <a:pt x="588695" y="49656"/>
                  </a:lnTo>
                  <a:lnTo>
                    <a:pt x="591083" y="49022"/>
                  </a:lnTo>
                  <a:lnTo>
                    <a:pt x="587946" y="3670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lang="en-US" noProof="0" dirty="0"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86939" y="56388"/>
              <a:ext cx="4389882" cy="1021842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2465957" y="15117"/>
            <a:ext cx="4315969" cy="1000274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lang="en-US" noProof="0" dirty="0"/>
              <a:t>Antoine CHEDEBOIS</a:t>
            </a:r>
          </a:p>
          <a:p>
            <a:pPr marL="68580">
              <a:lnSpc>
                <a:spcPct val="100000"/>
              </a:lnSpc>
              <a:spcBef>
                <a:spcPts val="470"/>
              </a:spcBef>
            </a:pPr>
            <a:r>
              <a:rPr lang="en-US" sz="1400" noProof="0" dirty="0"/>
              <a:t>Senior Full Stack Engineer / Hands-on Tech Lead / AWS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23799" y="1925472"/>
            <a:ext cx="1896745" cy="947054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lang="en-US" sz="1000" noProof="0" dirty="0">
                <a:solidFill>
                  <a:srgbClr val="FFFFFF"/>
                </a:solidFill>
                <a:latin typeface="Arial"/>
                <a:cs typeface="Arial"/>
              </a:rPr>
              <a:t>• +33 6-75-05-35-32</a:t>
            </a:r>
            <a:endParaRPr lang="en-US" sz="1000" noProof="0" dirty="0">
              <a:latin typeface="Calibri"/>
              <a:cs typeface="Calibri"/>
            </a:endParaRPr>
          </a:p>
          <a:p>
            <a:pPr marL="84455" indent="-71755">
              <a:lnSpc>
                <a:spcPct val="100000"/>
              </a:lnSpc>
              <a:spcBef>
                <a:spcPts val="465"/>
              </a:spcBef>
              <a:buFont typeface="Arial"/>
              <a:buChar char="•"/>
              <a:tabLst>
                <a:tab pos="84455" algn="l"/>
              </a:tabLst>
            </a:pPr>
            <a:r>
              <a:rPr lang="en-US" sz="1000" spc="-10" noProof="0" dirty="0">
                <a:solidFill>
                  <a:schemeClr val="bg1"/>
                </a:solidFill>
                <a:latin typeface="Calibri"/>
                <a:cs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antoinechedebois@gmail.com</a:t>
            </a:r>
            <a:endParaRPr lang="en-US" sz="1000" noProof="0" dirty="0">
              <a:solidFill>
                <a:schemeClr val="bg1"/>
              </a:solidFill>
              <a:latin typeface="Calibri"/>
              <a:cs typeface="Calibri"/>
            </a:endParaRPr>
          </a:p>
          <a:p>
            <a:pPr marL="84455" indent="-71755">
              <a:lnSpc>
                <a:spcPct val="100000"/>
              </a:lnSpc>
              <a:spcBef>
                <a:spcPts val="710"/>
              </a:spcBef>
              <a:buFont typeface="Arial"/>
              <a:buChar char="•"/>
              <a:tabLst>
                <a:tab pos="84455" algn="l"/>
              </a:tabLst>
            </a:pPr>
            <a:r>
              <a:rPr lang="en-US" sz="1000" b="1" spc="-10" noProof="0" dirty="0">
                <a:solidFill>
                  <a:schemeClr val="bg1"/>
                </a:solidFill>
                <a:latin typeface="Calibri"/>
                <a:cs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antoinechedebois.com</a:t>
            </a:r>
            <a:endParaRPr lang="en-US" sz="1000" b="1" spc="-10" noProof="0" dirty="0">
              <a:solidFill>
                <a:schemeClr val="bg1"/>
              </a:solidFill>
              <a:latin typeface="Calibri"/>
              <a:cs typeface="Calibri"/>
            </a:endParaRPr>
          </a:p>
          <a:p>
            <a:pPr marL="84455" indent="-71755">
              <a:spcBef>
                <a:spcPts val="710"/>
              </a:spcBef>
              <a:buFont typeface="Arial"/>
              <a:buChar char="•"/>
              <a:tabLst>
                <a:tab pos="84455" algn="l"/>
              </a:tabLst>
            </a:pPr>
            <a:r>
              <a:rPr lang="en-US" sz="1000" noProof="0" dirty="0">
                <a:solidFill>
                  <a:srgbClr val="FFFFFF"/>
                </a:solidFill>
                <a:latin typeface="Calibri"/>
                <a:cs typeface="Calibri"/>
              </a:rPr>
              <a:t>Remote from France – Paris Area</a:t>
            </a:r>
            <a:endParaRPr lang="en-US" sz="1000" noProof="0" dirty="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48230" y="4891565"/>
            <a:ext cx="4419726" cy="10996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77165" indent="-164465">
              <a:lnSpc>
                <a:spcPct val="100000"/>
              </a:lnSpc>
              <a:spcBef>
                <a:spcPts val="105"/>
              </a:spcBef>
              <a:buFont typeface="Wingdings"/>
              <a:buChar char=""/>
              <a:tabLst>
                <a:tab pos="177165" algn="l"/>
              </a:tabLst>
            </a:pPr>
            <a:r>
              <a:rPr lang="en-US" sz="1100" b="1" noProof="0" dirty="0">
                <a:solidFill>
                  <a:srgbClr val="3A6278"/>
                </a:solidFill>
                <a:latin typeface="Calibri"/>
                <a:cs typeface="Calibri"/>
              </a:rPr>
              <a:t>SENIOR FULL STACK / TECHNICAL LEAD</a:t>
            </a:r>
            <a:endParaRPr lang="en-US" sz="1100" noProof="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en-US" sz="1400" noProof="0" dirty="0">
                <a:latin typeface="Calibri"/>
                <a:cs typeface="Calibri"/>
              </a:rPr>
              <a:t>FRENCH ARMY | 2017 to 2020</a:t>
            </a:r>
          </a:p>
          <a:p>
            <a:pPr marL="177165" marR="57785">
              <a:lnSpc>
                <a:spcPct val="101699"/>
              </a:lnSpc>
              <a:spcBef>
                <a:spcPts val="25"/>
              </a:spcBef>
            </a:pPr>
            <a:r>
              <a:rPr lang="en-US" sz="900" noProof="0" dirty="0">
                <a:latin typeface="Calibri"/>
                <a:cs typeface="Calibri"/>
              </a:rPr>
              <a:t>Led a 5-engineer team delivering internal web applications from user needs to production. Strong focus on product delivery, UI integration, APIs, code quality and team mentoring.</a:t>
            </a:r>
          </a:p>
          <a:p>
            <a:pPr marL="177165" marR="5080">
              <a:lnSpc>
                <a:spcPct val="101699"/>
              </a:lnSpc>
              <a:spcBef>
                <a:spcPts val="5"/>
              </a:spcBef>
            </a:pPr>
            <a:r>
              <a:rPr lang="en-US" sz="900" i="1" noProof="0" dirty="0">
                <a:latin typeface="Calibri"/>
                <a:cs typeface="Calibri"/>
              </a:rPr>
              <a:t>Stack: Angular, TypeScript, REST APIs, PHP, MySQL, Redis, GitLab, Artifactory, Jira, Confluence, Docker, Debian, Nginx...</a:t>
            </a:r>
            <a:endParaRPr lang="en-US" sz="900" noProof="0" dirty="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343150" y="6120772"/>
            <a:ext cx="4419726" cy="81342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77165" indent="-164465">
              <a:lnSpc>
                <a:spcPct val="100000"/>
              </a:lnSpc>
              <a:spcBef>
                <a:spcPts val="105"/>
              </a:spcBef>
              <a:buFont typeface="Wingdings"/>
              <a:buChar char=""/>
              <a:tabLst>
                <a:tab pos="177165" algn="l"/>
              </a:tabLst>
            </a:pPr>
            <a:r>
              <a:rPr lang="en-US" sz="1100" b="1" noProof="0" dirty="0">
                <a:solidFill>
                  <a:srgbClr val="3A6278"/>
                </a:solidFill>
                <a:latin typeface="Calibri"/>
                <a:cs typeface="Calibri"/>
              </a:rPr>
              <a:t>SENIOR FULL STACK / TECH LEAD</a:t>
            </a:r>
            <a:endParaRPr lang="en-US" sz="1100" noProof="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en-US" sz="1400" noProof="0" dirty="0">
                <a:latin typeface="Calibri"/>
                <a:cs typeface="Calibri"/>
              </a:rPr>
              <a:t>FRENCH TERRITORIAL COLLECTIVITY | 2016 to 2017</a:t>
            </a:r>
          </a:p>
          <a:p>
            <a:pPr marL="177165" marR="249554">
              <a:lnSpc>
                <a:spcPct val="101099"/>
              </a:lnSpc>
              <a:spcBef>
                <a:spcPts val="45"/>
              </a:spcBef>
            </a:pPr>
            <a:r>
              <a:rPr lang="en-US" sz="900" spc="-10" noProof="0" dirty="0">
                <a:latin typeface="Calibri"/>
                <a:cs typeface="Calibri"/>
              </a:rPr>
              <a:t>Built web applications for public agents and end users. Led a small 3-developer team on API integrations, search features and data-driven applications.</a:t>
            </a:r>
            <a:endParaRPr lang="en-US" sz="900" noProof="0" dirty="0">
              <a:latin typeface="Calibri"/>
              <a:cs typeface="Calibri"/>
            </a:endParaRPr>
          </a:p>
          <a:p>
            <a:pPr marL="177165" marR="5080">
              <a:lnSpc>
                <a:spcPct val="101099"/>
              </a:lnSpc>
              <a:spcBef>
                <a:spcPts val="10"/>
              </a:spcBef>
            </a:pPr>
            <a:r>
              <a:rPr lang="en-US" sz="900" i="1" noProof="0" dirty="0">
                <a:latin typeface="Calibri"/>
                <a:cs typeface="Calibri"/>
              </a:rPr>
              <a:t>Stack: Node.js, REST APIs, PHP, Elasticsearch, PostgreSQL, Oracle, Bootstrap, SASS, Git...</a:t>
            </a:r>
            <a:endParaRPr lang="en-US" sz="900" noProof="0" dirty="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348230" y="7098882"/>
            <a:ext cx="4509770" cy="6735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77165" indent="-164465">
              <a:lnSpc>
                <a:spcPct val="100000"/>
              </a:lnSpc>
              <a:spcBef>
                <a:spcPts val="105"/>
              </a:spcBef>
              <a:buFont typeface="Wingdings"/>
              <a:buChar char=""/>
              <a:tabLst>
                <a:tab pos="177165" algn="l"/>
              </a:tabLst>
            </a:pPr>
            <a:r>
              <a:rPr lang="en-US" sz="1100" b="1" noProof="0" dirty="0">
                <a:solidFill>
                  <a:srgbClr val="3A6278"/>
                </a:solidFill>
                <a:latin typeface="Calibri"/>
                <a:cs typeface="Calibri"/>
              </a:rPr>
              <a:t>SENIOR FULL STACK ENGINEER</a:t>
            </a:r>
            <a:endParaRPr lang="en-US" sz="1100" noProof="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en-US" sz="1400" noProof="0" dirty="0">
                <a:latin typeface="Calibri"/>
                <a:cs typeface="Calibri"/>
              </a:rPr>
              <a:t>BELAIR INFORMATIQUE | 2012 to 2016</a:t>
            </a:r>
          </a:p>
          <a:p>
            <a:pPr marL="177165" marR="477520">
              <a:lnSpc>
                <a:spcPct val="101099"/>
              </a:lnSpc>
              <a:spcBef>
                <a:spcPts val="45"/>
              </a:spcBef>
            </a:pPr>
            <a:r>
              <a:rPr lang="en-US" sz="900" noProof="0" dirty="0">
                <a:latin typeface="Calibri"/>
                <a:cs typeface="Calibri"/>
              </a:rPr>
              <a:t>SaaS features for insurance brokers with end-to-end ownership from design to delivery. 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329180" y="7924800"/>
            <a:ext cx="4419726" cy="551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7165" indent="-16446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177165" algn="l"/>
              </a:tabLst>
            </a:pPr>
            <a:r>
              <a:rPr lang="en-US" sz="1100" b="1" noProof="0" dirty="0">
                <a:solidFill>
                  <a:srgbClr val="3A6278"/>
                </a:solidFill>
                <a:latin typeface="Calibri"/>
                <a:cs typeface="Calibri"/>
              </a:rPr>
              <a:t>WEB DEVELOPER / PROJECT MANAGER</a:t>
            </a:r>
            <a:endParaRPr lang="en-US" sz="1100" noProof="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lang="en-US" sz="1400" spc="-10" noProof="0" dirty="0">
                <a:latin typeface="Calibri"/>
                <a:cs typeface="Calibri"/>
              </a:rPr>
              <a:t>COTEP | 2002 to 2012</a:t>
            </a:r>
            <a:endParaRPr lang="en-US" sz="1400" noProof="0" dirty="0">
              <a:latin typeface="Calibri"/>
              <a:cs typeface="Calibri"/>
            </a:endParaRPr>
          </a:p>
          <a:p>
            <a:pPr marL="177165">
              <a:lnSpc>
                <a:spcPct val="100000"/>
              </a:lnSpc>
              <a:spcBef>
                <a:spcPts val="60"/>
              </a:spcBef>
            </a:pPr>
            <a:r>
              <a:rPr lang="en-US" sz="900" noProof="0" dirty="0">
                <a:latin typeface="Calibri"/>
                <a:cs typeface="Calibri"/>
              </a:rPr>
              <a:t>Developed web products and managed customer projects for a digital signage company.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362200" y="8859418"/>
            <a:ext cx="4419726" cy="7335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6530" indent="-16383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176530" algn="l"/>
              </a:tabLst>
            </a:pPr>
            <a:r>
              <a:rPr lang="en-US" sz="1400" b="1" noProof="0" dirty="0">
                <a:solidFill>
                  <a:srgbClr val="3A6278"/>
                </a:solidFill>
                <a:latin typeface="Calibri"/>
                <a:cs typeface="Calibri"/>
              </a:rPr>
              <a:t>FREELANCE FULL STACK ENGINEER</a:t>
            </a:r>
            <a:endParaRPr lang="en-US" sz="1400" noProof="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lang="en-US" sz="1400" noProof="0" dirty="0">
                <a:latin typeface="Calibri"/>
                <a:cs typeface="Calibri"/>
              </a:rPr>
              <a:t>2009 to present</a:t>
            </a:r>
          </a:p>
          <a:p>
            <a:pPr marL="177165">
              <a:lnSpc>
                <a:spcPct val="100000"/>
              </a:lnSpc>
              <a:spcBef>
                <a:spcPts val="55"/>
              </a:spcBef>
            </a:pPr>
            <a:r>
              <a:rPr lang="en-US" sz="900" noProof="0" dirty="0">
                <a:latin typeface="Calibri"/>
                <a:cs typeface="Calibri"/>
              </a:rPr>
              <a:t>Delivered custom web products and automation tools for public and private customers. Remote collaboration, product framing and end-to-end delivery.</a:t>
            </a:r>
          </a:p>
        </p:txBody>
      </p:sp>
      <p:pic>
        <p:nvPicPr>
          <p:cNvPr id="17" name="object 1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82294" y="3308603"/>
            <a:ext cx="402335" cy="393192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20267" y="8429243"/>
            <a:ext cx="391668" cy="391668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2494788" y="1111377"/>
            <a:ext cx="4191000" cy="681611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33019" rIns="0" bIns="32400" rtlCol="0">
            <a:spAutoFit/>
          </a:bodyPr>
          <a:lstStyle/>
          <a:p>
            <a:pPr marL="83185" marR="73660" algn="just">
              <a:lnSpc>
                <a:spcPct val="100000"/>
              </a:lnSpc>
              <a:spcBef>
                <a:spcPts val="259"/>
              </a:spcBef>
            </a:pPr>
            <a:r>
              <a:rPr lang="en-US" sz="1000" noProof="0" dirty="0">
                <a:solidFill>
                  <a:srgbClr val="3A6278"/>
                </a:solidFill>
                <a:latin typeface="Calibri"/>
                <a:cs typeface="Calibri"/>
              </a:rPr>
              <a:t>Ex-Amazon Senior Software Engineer and hands-on Tech Lead with 25+ years of experience designing, delivering and operating cloud-native web platforms. AWS-certified, with strong ownership across full-stack development, CI/CD, observability, production reliability and AI-assisted developer productivity.</a:t>
            </a:r>
            <a:endParaRPr lang="en-US" sz="1000" noProof="0" dirty="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82575" y="3687317"/>
            <a:ext cx="17748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 algn="ctr">
              <a:lnSpc>
                <a:spcPct val="100000"/>
              </a:lnSpc>
              <a:spcBef>
                <a:spcPts val="95"/>
              </a:spcBef>
            </a:pPr>
            <a:r>
              <a:rPr lang="en-US" sz="1600" b="1" noProof="0" dirty="0">
                <a:solidFill>
                  <a:srgbClr val="FFFFFF"/>
                </a:solidFill>
                <a:latin typeface="Calibri"/>
                <a:cs typeface="Calibri"/>
              </a:rPr>
              <a:t>TECH</a:t>
            </a:r>
            <a:r>
              <a:rPr lang="en-US" sz="1600" b="1" spc="-35" noProof="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1600" b="1" spc="-10" noProof="0" dirty="0">
                <a:solidFill>
                  <a:srgbClr val="FFFFFF"/>
                </a:solidFill>
                <a:latin typeface="Calibri"/>
                <a:cs typeface="Calibri"/>
              </a:rPr>
              <a:t>SKILLS</a:t>
            </a:r>
            <a:endParaRPr lang="en-US" sz="1600" noProof="0" dirty="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48920" y="8686800"/>
            <a:ext cx="1503680" cy="359073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448309">
              <a:lnSpc>
                <a:spcPct val="100000"/>
              </a:lnSpc>
              <a:spcBef>
                <a:spcPts val="880"/>
              </a:spcBef>
            </a:pPr>
            <a:r>
              <a:rPr lang="en-US" sz="1600" b="1" spc="-10" noProof="0" dirty="0">
                <a:solidFill>
                  <a:srgbClr val="FFFFFF"/>
                </a:solidFill>
                <a:latin typeface="Calibri"/>
                <a:cs typeface="Calibri"/>
              </a:rPr>
              <a:t>LANGUAGES</a:t>
            </a:r>
            <a:endParaRPr lang="en-US" sz="1600" noProof="0" dirty="0">
              <a:latin typeface="Calibri"/>
              <a:cs typeface="Calibri"/>
            </a:endParaRPr>
          </a:p>
        </p:txBody>
      </p:sp>
      <p:grpSp>
        <p:nvGrpSpPr>
          <p:cNvPr id="119" name="Groupe 118">
            <a:extLst>
              <a:ext uri="{FF2B5EF4-FFF2-40B4-BE49-F238E27FC236}">
                <a16:creationId xmlns:a16="http://schemas.microsoft.com/office/drawing/2014/main" id="{D32C7AF5-DFDD-3DB9-11CA-6AA2E4342D45}"/>
              </a:ext>
            </a:extLst>
          </p:cNvPr>
          <p:cNvGrpSpPr/>
          <p:nvPr/>
        </p:nvGrpSpPr>
        <p:grpSpPr>
          <a:xfrm>
            <a:off x="310692" y="9436608"/>
            <a:ext cx="1746708" cy="240792"/>
            <a:chOff x="310692" y="9436608"/>
            <a:chExt cx="1746708" cy="240792"/>
          </a:xfrm>
        </p:grpSpPr>
        <p:sp>
          <p:nvSpPr>
            <p:cNvPr id="22" name="object 22"/>
            <p:cNvSpPr txBox="1"/>
            <p:nvPr/>
          </p:nvSpPr>
          <p:spPr>
            <a:xfrm>
              <a:off x="310692" y="9436608"/>
              <a:ext cx="448309" cy="208279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US" sz="1200" spc="-10" noProof="0" dirty="0">
                  <a:solidFill>
                    <a:srgbClr val="FFFFFF"/>
                  </a:solidFill>
                  <a:latin typeface="Calibri"/>
                  <a:cs typeface="Calibri"/>
                </a:rPr>
                <a:t>French</a:t>
              </a:r>
              <a:endParaRPr lang="en-US" sz="1200" noProof="0" dirty="0">
                <a:latin typeface="Calibri"/>
                <a:cs typeface="Calibri"/>
              </a:endParaRPr>
            </a:p>
          </p:txBody>
        </p:sp>
        <p:grpSp>
          <p:nvGrpSpPr>
            <p:cNvPr id="23" name="object 23"/>
            <p:cNvGrpSpPr/>
            <p:nvPr/>
          </p:nvGrpSpPr>
          <p:grpSpPr>
            <a:xfrm>
              <a:off x="847090" y="9448800"/>
              <a:ext cx="1210310" cy="228600"/>
              <a:chOff x="931163" y="9576816"/>
              <a:chExt cx="1210310" cy="228600"/>
            </a:xfrm>
          </p:grpSpPr>
          <p:pic>
            <p:nvPicPr>
              <p:cNvPr id="24" name="object 24"/>
              <p:cNvPicPr/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923288" y="9589008"/>
                <a:ext cx="217931" cy="216408"/>
              </a:xfrm>
              <a:prstGeom prst="rect">
                <a:avLst/>
              </a:prstGeom>
            </p:spPr>
          </p:pic>
          <p:pic>
            <p:nvPicPr>
              <p:cNvPr id="25" name="object 25"/>
              <p:cNvPicPr/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931163" y="9576816"/>
                <a:ext cx="217932" cy="217930"/>
              </a:xfrm>
              <a:prstGeom prst="rect">
                <a:avLst/>
              </a:prstGeom>
            </p:spPr>
          </p:pic>
          <p:pic>
            <p:nvPicPr>
              <p:cNvPr id="26" name="object 26"/>
              <p:cNvPicPr/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178052" y="9576816"/>
                <a:ext cx="216407" cy="217930"/>
              </a:xfrm>
              <a:prstGeom prst="rect">
                <a:avLst/>
              </a:prstGeom>
            </p:spPr>
          </p:pic>
          <p:pic>
            <p:nvPicPr>
              <p:cNvPr id="27" name="object 27"/>
              <p:cNvPicPr/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1424940" y="9576816"/>
                <a:ext cx="216408" cy="217930"/>
              </a:xfrm>
              <a:prstGeom prst="rect">
                <a:avLst/>
              </a:prstGeom>
            </p:spPr>
          </p:pic>
          <p:pic>
            <p:nvPicPr>
              <p:cNvPr id="28" name="object 28"/>
              <p:cNvPicPr/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670304" y="9576816"/>
                <a:ext cx="217931" cy="217930"/>
              </a:xfrm>
              <a:prstGeom prst="rect">
                <a:avLst/>
              </a:prstGeom>
            </p:spPr>
          </p:pic>
        </p:grpSp>
      </p:grpSp>
      <p:sp>
        <p:nvSpPr>
          <p:cNvPr id="29" name="object 29"/>
          <p:cNvSpPr/>
          <p:nvPr/>
        </p:nvSpPr>
        <p:spPr>
          <a:xfrm>
            <a:off x="1945513" y="1967483"/>
            <a:ext cx="2938780" cy="340360"/>
          </a:xfrm>
          <a:custGeom>
            <a:avLst/>
            <a:gdLst/>
            <a:ahLst/>
            <a:cxnLst/>
            <a:rect l="l" t="t" r="r" b="b"/>
            <a:pathLst>
              <a:path w="2938779" h="340360">
                <a:moveTo>
                  <a:pt x="2881629" y="0"/>
                </a:moveTo>
                <a:lnTo>
                  <a:pt x="0" y="0"/>
                </a:lnTo>
                <a:lnTo>
                  <a:pt x="0" y="339851"/>
                </a:lnTo>
                <a:lnTo>
                  <a:pt x="2938272" y="339851"/>
                </a:lnTo>
                <a:lnTo>
                  <a:pt x="2938272" y="56642"/>
                </a:lnTo>
                <a:lnTo>
                  <a:pt x="2881629" y="0"/>
                </a:lnTo>
                <a:close/>
              </a:path>
            </a:pathLst>
          </a:custGeom>
          <a:solidFill>
            <a:srgbClr val="3A6278"/>
          </a:solidFill>
        </p:spPr>
        <p:txBody>
          <a:bodyPr wrap="square" lIns="0" tIns="0" rIns="0" bIns="0" rtlCol="0"/>
          <a:lstStyle/>
          <a:p>
            <a:endParaRPr lang="en-US" noProof="0" dirty="0"/>
          </a:p>
        </p:txBody>
      </p:sp>
      <p:sp>
        <p:nvSpPr>
          <p:cNvPr id="36" name="object 36"/>
          <p:cNvSpPr txBox="1"/>
          <p:nvPr/>
        </p:nvSpPr>
        <p:spPr>
          <a:xfrm>
            <a:off x="2362199" y="1988007"/>
            <a:ext cx="4405757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0175">
              <a:lnSpc>
                <a:spcPct val="100000"/>
              </a:lnSpc>
              <a:spcBef>
                <a:spcPts val="100"/>
              </a:spcBef>
            </a:pPr>
            <a:r>
              <a:rPr lang="en-US" sz="1800" b="1" noProof="0" dirty="0">
                <a:solidFill>
                  <a:srgbClr val="FFFFFF"/>
                </a:solidFill>
                <a:latin typeface="Calibri"/>
                <a:cs typeface="Calibri"/>
              </a:rPr>
              <a:t>WORK</a:t>
            </a:r>
            <a:r>
              <a:rPr lang="en-US" sz="1800" b="1" spc="-60" noProof="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1800" b="1" spc="-10" noProof="0" dirty="0">
                <a:solidFill>
                  <a:srgbClr val="FFFFFF"/>
                </a:solidFill>
                <a:latin typeface="Calibri"/>
                <a:cs typeface="Calibri"/>
              </a:rPr>
              <a:t>EXPERIENCES</a:t>
            </a:r>
            <a:endParaRPr lang="en-US" sz="1800" noProof="0" dirty="0">
              <a:latin typeface="Calibri"/>
              <a:cs typeface="Calibri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1941576" y="2303907"/>
            <a:ext cx="254000" cy="205104"/>
          </a:xfrm>
          <a:custGeom>
            <a:avLst/>
            <a:gdLst/>
            <a:ahLst/>
            <a:cxnLst/>
            <a:rect l="l" t="t" r="r" b="b"/>
            <a:pathLst>
              <a:path w="254000" h="205105">
                <a:moveTo>
                  <a:pt x="0" y="0"/>
                </a:moveTo>
                <a:lnTo>
                  <a:pt x="250316" y="204850"/>
                </a:lnTo>
                <a:lnTo>
                  <a:pt x="253491" y="2667"/>
                </a:lnTo>
                <a:lnTo>
                  <a:pt x="0" y="0"/>
                </a:lnTo>
                <a:close/>
              </a:path>
            </a:pathLst>
          </a:custGeom>
          <a:solidFill>
            <a:srgbClr val="2A4653"/>
          </a:solidFill>
        </p:spPr>
        <p:txBody>
          <a:bodyPr wrap="square" lIns="0" tIns="0" rIns="0" bIns="0" rtlCol="0"/>
          <a:lstStyle/>
          <a:p>
            <a:endParaRPr lang="en-US" noProof="0" dirty="0"/>
          </a:p>
        </p:txBody>
      </p:sp>
      <p:sp>
        <p:nvSpPr>
          <p:cNvPr id="44" name="object 44"/>
          <p:cNvSpPr txBox="1"/>
          <p:nvPr/>
        </p:nvSpPr>
        <p:spPr>
          <a:xfrm>
            <a:off x="361314" y="3962400"/>
            <a:ext cx="1840864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b="1" noProof="0" dirty="0">
                <a:solidFill>
                  <a:srgbClr val="FFFFFF"/>
                </a:solidFill>
                <a:latin typeface="Calibri"/>
                <a:cs typeface="Calibri"/>
              </a:rPr>
              <a:t>Frontend</a:t>
            </a:r>
            <a:endParaRPr lang="en-US" sz="1200" noProof="0" dirty="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383349" y="5312914"/>
            <a:ext cx="189674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b="1" noProof="0" dirty="0">
                <a:solidFill>
                  <a:srgbClr val="FFFFFF"/>
                </a:solidFill>
                <a:latin typeface="Calibri"/>
                <a:cs typeface="Calibri"/>
              </a:rPr>
              <a:t>Database</a:t>
            </a:r>
            <a:endParaRPr lang="en-US" sz="1200" noProof="0" dirty="0">
              <a:latin typeface="Calibri"/>
              <a:cs typeface="Calibri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389661" y="5486400"/>
            <a:ext cx="173626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dirty="0">
                <a:solidFill>
                  <a:srgbClr val="FFFFFF"/>
                </a:solidFill>
                <a:latin typeface="Calibri"/>
                <a:cs typeface="Calibri"/>
              </a:rPr>
              <a:t>MySQL, PostgreSQL, DynamoDB, Redis, OpenSearch…</a:t>
            </a:r>
            <a:endParaRPr lang="en-US" sz="1200" noProof="0" dirty="0">
              <a:latin typeface="Calibri"/>
              <a:cs typeface="Calibri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391160" y="6211288"/>
            <a:ext cx="177609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b="1" noProof="0" dirty="0">
                <a:solidFill>
                  <a:srgbClr val="FFFFFF"/>
                </a:solidFill>
                <a:latin typeface="Calibri"/>
                <a:cs typeface="Calibri"/>
              </a:rPr>
              <a:t>Cloud Computing / AWS</a:t>
            </a:r>
            <a:endParaRPr lang="en-US" sz="1200" noProof="0" dirty="0">
              <a:latin typeface="Calibri"/>
              <a:cs typeface="Calibri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375234" y="7803667"/>
            <a:ext cx="175069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b="1" noProof="0" dirty="0">
                <a:solidFill>
                  <a:srgbClr val="FFFFFF"/>
                </a:solidFill>
                <a:latin typeface="Calibri"/>
                <a:cs typeface="Calibri"/>
              </a:rPr>
              <a:t>AI Development</a:t>
            </a:r>
            <a:endParaRPr lang="en-US" sz="1200" noProof="0" dirty="0">
              <a:latin typeface="Calibri"/>
              <a:cs typeface="Calibri"/>
            </a:endParaRPr>
          </a:p>
        </p:txBody>
      </p:sp>
      <p:sp>
        <p:nvSpPr>
          <p:cNvPr id="85" name="object 85"/>
          <p:cNvSpPr/>
          <p:nvPr/>
        </p:nvSpPr>
        <p:spPr>
          <a:xfrm>
            <a:off x="2540584" y="8663940"/>
            <a:ext cx="3909187" cy="45719"/>
          </a:xfrm>
          <a:custGeom>
            <a:avLst/>
            <a:gdLst/>
            <a:ahLst/>
            <a:cxnLst/>
            <a:rect l="l" t="t" r="r" b="b"/>
            <a:pathLst>
              <a:path w="3802379">
                <a:moveTo>
                  <a:pt x="0" y="0"/>
                </a:moveTo>
                <a:lnTo>
                  <a:pt x="3802379" y="0"/>
                </a:lnTo>
              </a:path>
            </a:pathLst>
          </a:custGeom>
          <a:ln w="9525">
            <a:solidFill>
              <a:srgbClr val="3A6278"/>
            </a:solidFill>
          </a:ln>
        </p:spPr>
        <p:txBody>
          <a:bodyPr wrap="square" lIns="0" tIns="0" rIns="0" bIns="0" rtlCol="0"/>
          <a:lstStyle/>
          <a:p>
            <a:endParaRPr lang="en-US" noProof="0" dirty="0"/>
          </a:p>
        </p:txBody>
      </p:sp>
      <p:sp>
        <p:nvSpPr>
          <p:cNvPr id="86" name="object 57"/>
          <p:cNvSpPr txBox="1"/>
          <p:nvPr/>
        </p:nvSpPr>
        <p:spPr>
          <a:xfrm>
            <a:off x="356106" y="4623319"/>
            <a:ext cx="150876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b="1" noProof="0" dirty="0">
                <a:solidFill>
                  <a:srgbClr val="FFFFFF"/>
                </a:solidFill>
                <a:latin typeface="Calibri"/>
                <a:cs typeface="Calibri"/>
              </a:rPr>
              <a:t>Backend</a:t>
            </a:r>
            <a:endParaRPr lang="en-US" sz="1200" noProof="0" dirty="0">
              <a:latin typeface="Calibri"/>
              <a:cs typeface="Calibri"/>
            </a:endParaRPr>
          </a:p>
        </p:txBody>
      </p:sp>
      <p:grpSp>
        <p:nvGrpSpPr>
          <p:cNvPr id="118" name="Groupe 117">
            <a:extLst>
              <a:ext uri="{FF2B5EF4-FFF2-40B4-BE49-F238E27FC236}">
                <a16:creationId xmlns:a16="http://schemas.microsoft.com/office/drawing/2014/main" id="{42C0EDD8-DBCF-A696-33B3-95D3F4F25680}"/>
              </a:ext>
            </a:extLst>
          </p:cNvPr>
          <p:cNvGrpSpPr/>
          <p:nvPr/>
        </p:nvGrpSpPr>
        <p:grpSpPr>
          <a:xfrm>
            <a:off x="309752" y="9143156"/>
            <a:ext cx="1747393" cy="219792"/>
            <a:chOff x="309752" y="9143156"/>
            <a:chExt cx="1747393" cy="219792"/>
          </a:xfrm>
        </p:grpSpPr>
        <p:grpSp>
          <p:nvGrpSpPr>
            <p:cNvPr id="30" name="object 30"/>
            <p:cNvGrpSpPr/>
            <p:nvPr/>
          </p:nvGrpSpPr>
          <p:grpSpPr>
            <a:xfrm>
              <a:off x="839470" y="9146540"/>
              <a:ext cx="1217675" cy="216408"/>
              <a:chOff x="934211" y="9252204"/>
              <a:chExt cx="1217675" cy="216408"/>
            </a:xfrm>
          </p:grpSpPr>
          <p:pic>
            <p:nvPicPr>
              <p:cNvPr id="31" name="object 31"/>
              <p:cNvPicPr/>
              <p:nvPr/>
            </p:nvPicPr>
            <p:blipFill>
              <a:blip r:embed="rId11" cstate="print"/>
              <a:stretch>
                <a:fillRect/>
              </a:stretch>
            </p:blipFill>
            <p:spPr>
              <a:xfrm>
                <a:off x="934211" y="9252204"/>
                <a:ext cx="216407" cy="216408"/>
              </a:xfrm>
              <a:prstGeom prst="rect">
                <a:avLst/>
              </a:prstGeom>
            </p:spPr>
          </p:pic>
          <p:pic>
            <p:nvPicPr>
              <p:cNvPr id="32" name="object 32"/>
              <p:cNvPicPr/>
              <p:nvPr/>
            </p:nvPicPr>
            <p:blipFill>
              <a:blip r:embed="rId12" cstate="print"/>
              <a:stretch>
                <a:fillRect/>
              </a:stretch>
            </p:blipFill>
            <p:spPr>
              <a:xfrm>
                <a:off x="1179575" y="9252204"/>
                <a:ext cx="217932" cy="216408"/>
              </a:xfrm>
              <a:prstGeom prst="rect">
                <a:avLst/>
              </a:prstGeom>
            </p:spPr>
          </p:pic>
          <p:pic>
            <p:nvPicPr>
              <p:cNvPr id="33" name="object 33"/>
              <p:cNvPicPr/>
              <p:nvPr/>
            </p:nvPicPr>
            <p:blipFill>
              <a:blip r:embed="rId12" cstate="print"/>
              <a:stretch>
                <a:fillRect/>
              </a:stretch>
            </p:blipFill>
            <p:spPr>
              <a:xfrm>
                <a:off x="1426463" y="9252204"/>
                <a:ext cx="217931" cy="216408"/>
              </a:xfrm>
              <a:prstGeom prst="rect">
                <a:avLst/>
              </a:prstGeom>
            </p:spPr>
          </p:pic>
          <p:pic>
            <p:nvPicPr>
              <p:cNvPr id="34" name="object 34"/>
              <p:cNvPicPr/>
              <p:nvPr/>
            </p:nvPicPr>
            <p:blipFill>
              <a:blip r:embed="rId13" cstate="print"/>
              <a:stretch>
                <a:fillRect/>
              </a:stretch>
            </p:blipFill>
            <p:spPr>
              <a:xfrm>
                <a:off x="1935479" y="9252204"/>
                <a:ext cx="216407" cy="216408"/>
              </a:xfrm>
              <a:prstGeom prst="rect">
                <a:avLst/>
              </a:prstGeom>
            </p:spPr>
          </p:pic>
        </p:grpSp>
        <p:sp>
          <p:nvSpPr>
            <p:cNvPr id="116" name="object 22">
              <a:extLst>
                <a:ext uri="{FF2B5EF4-FFF2-40B4-BE49-F238E27FC236}">
                  <a16:creationId xmlns:a16="http://schemas.microsoft.com/office/drawing/2014/main" id="{A7344020-CEB0-FBD3-3099-5D4CB5AC3C32}"/>
                </a:ext>
              </a:extLst>
            </p:cNvPr>
            <p:cNvSpPr txBox="1"/>
            <p:nvPr/>
          </p:nvSpPr>
          <p:spPr>
            <a:xfrm>
              <a:off x="309752" y="9143156"/>
              <a:ext cx="448309" cy="19749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US" sz="1200" spc="-10" noProof="0" dirty="0">
                  <a:solidFill>
                    <a:srgbClr val="FFFFFF"/>
                  </a:solidFill>
                  <a:latin typeface="Calibri"/>
                  <a:cs typeface="Calibri"/>
                </a:rPr>
                <a:t>English</a:t>
              </a:r>
              <a:endParaRPr lang="en-US" sz="1200" noProof="0" dirty="0">
                <a:latin typeface="Calibri"/>
                <a:cs typeface="Calibri"/>
              </a:endParaRPr>
            </a:p>
          </p:txBody>
        </p:sp>
        <p:pic>
          <p:nvPicPr>
            <p:cNvPr id="117" name="object 28">
              <a:extLst>
                <a:ext uri="{FF2B5EF4-FFF2-40B4-BE49-F238E27FC236}">
                  <a16:creationId xmlns:a16="http://schemas.microsoft.com/office/drawing/2014/main" id="{709AC65D-F08B-8C29-E3BB-E9A60FF2576B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86231" y="9143156"/>
              <a:ext cx="217931" cy="217930"/>
            </a:xfrm>
            <a:prstGeom prst="rect">
              <a:avLst/>
            </a:prstGeom>
          </p:spPr>
        </p:pic>
      </p:grpSp>
      <p:pic>
        <p:nvPicPr>
          <p:cNvPr id="123" name="Image 122" descr="Une image contenant personne, Visage humain, habits, sourire">
            <a:extLst>
              <a:ext uri="{FF2B5EF4-FFF2-40B4-BE49-F238E27FC236}">
                <a16:creationId xmlns:a16="http://schemas.microsoft.com/office/drawing/2014/main" id="{CB6FB974-CCE3-EB2B-FFF2-1C77787D7EB7}"/>
              </a:ext>
            </a:extLst>
          </p:cNvPr>
          <p:cNvPicPr>
            <a:picLocks noChangeAspect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56" t="20346" r="22782" b="11171"/>
          <a:stretch>
            <a:fillRect/>
          </a:stretch>
        </p:blipFill>
        <p:spPr>
          <a:xfrm rot="5400000">
            <a:off x="464944" y="185037"/>
            <a:ext cx="1598043" cy="1598043"/>
          </a:xfrm>
          <a:prstGeom prst="ellipse">
            <a:avLst/>
          </a:prstGeom>
        </p:spPr>
      </p:pic>
      <p:sp>
        <p:nvSpPr>
          <p:cNvPr id="7" name="object 12">
            <a:extLst>
              <a:ext uri="{FF2B5EF4-FFF2-40B4-BE49-F238E27FC236}">
                <a16:creationId xmlns:a16="http://schemas.microsoft.com/office/drawing/2014/main" id="{434A0271-A8BB-2A82-4E49-6AC413642826}"/>
              </a:ext>
            </a:extLst>
          </p:cNvPr>
          <p:cNvSpPr txBox="1"/>
          <p:nvPr/>
        </p:nvSpPr>
        <p:spPr>
          <a:xfrm>
            <a:off x="2340736" y="3534997"/>
            <a:ext cx="4419726" cy="126560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77165" indent="-164465">
              <a:lnSpc>
                <a:spcPct val="100000"/>
              </a:lnSpc>
              <a:spcBef>
                <a:spcPts val="1240"/>
              </a:spcBef>
              <a:buFont typeface="Wingdings"/>
              <a:buChar char=""/>
              <a:tabLst>
                <a:tab pos="177165" algn="l"/>
              </a:tabLst>
            </a:pPr>
            <a:r>
              <a:rPr lang="en-US" sz="1100" b="1" noProof="0" dirty="0">
                <a:solidFill>
                  <a:srgbClr val="3A6278"/>
                </a:solidFill>
                <a:latin typeface="Calibri"/>
                <a:cs typeface="Calibri"/>
              </a:rPr>
              <a:t>SENIOR FULL STACK ENGINEER / TECH LEAD</a:t>
            </a:r>
            <a:endParaRPr lang="en-US" sz="1100" noProof="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n-US" sz="1400" noProof="0" dirty="0">
                <a:latin typeface="Calibri"/>
                <a:cs typeface="Calibri"/>
              </a:rPr>
              <a:t>AMAZON | 2020 to 2026 </a:t>
            </a:r>
            <a:r>
              <a:rPr lang="en-US" sz="1100" noProof="0" dirty="0">
                <a:latin typeface="Calibri"/>
                <a:cs typeface="Calibri"/>
              </a:rPr>
              <a:t>(FULL REMOTE)</a:t>
            </a:r>
          </a:p>
          <a:p>
            <a:pPr marL="177165" marR="269240">
              <a:lnSpc>
                <a:spcPct val="101099"/>
              </a:lnSpc>
              <a:spcBef>
                <a:spcPts val="45"/>
              </a:spcBef>
            </a:pPr>
            <a:r>
              <a:rPr lang="en-US" sz="900" noProof="0" dirty="0">
                <a:latin typeface="Calibri"/>
                <a:cs typeface="Calibri"/>
              </a:rPr>
              <a:t>Hands-on technical leader of a 5-engineer team. Built and ran high-traffic Amazon web applications deployed worldwide. Designed full-stack features, AWS serverless architectures, CI/CD pipelines, monitoring and production support. Interviewer and mentor during recruitment loops.</a:t>
            </a:r>
          </a:p>
          <a:p>
            <a:pPr marL="177165">
              <a:lnSpc>
                <a:spcPct val="100000"/>
              </a:lnSpc>
              <a:spcBef>
                <a:spcPts val="10"/>
              </a:spcBef>
            </a:pPr>
            <a:r>
              <a:rPr lang="en-US" sz="900" i="1" noProof="0" dirty="0">
                <a:latin typeface="Calibri"/>
                <a:cs typeface="Calibri"/>
              </a:rPr>
              <a:t>Stack: React, Angular, TypeScript, Python, Flask, PostgreSQL, DynamoDB. AWS: Lambda, API Gateway, CloudWatch, SNS, SQS, DynamoDB, RDS, EC2, Athena, QuickSight...</a:t>
            </a:r>
            <a:endParaRPr lang="en-US" sz="900" noProof="0" dirty="0">
              <a:latin typeface="Calibri"/>
              <a:cs typeface="Calibri"/>
            </a:endParaRPr>
          </a:p>
        </p:txBody>
      </p:sp>
      <p:sp>
        <p:nvSpPr>
          <p:cNvPr id="35" name="object 12">
            <a:extLst>
              <a:ext uri="{FF2B5EF4-FFF2-40B4-BE49-F238E27FC236}">
                <a16:creationId xmlns:a16="http://schemas.microsoft.com/office/drawing/2014/main" id="{9EFFC241-3E0E-6769-15C9-699A036A44C1}"/>
              </a:ext>
            </a:extLst>
          </p:cNvPr>
          <p:cNvSpPr txBox="1"/>
          <p:nvPr/>
        </p:nvSpPr>
        <p:spPr>
          <a:xfrm>
            <a:off x="2343150" y="2345105"/>
            <a:ext cx="4419726" cy="123315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77165" indent="-164465">
              <a:lnSpc>
                <a:spcPct val="100000"/>
              </a:lnSpc>
              <a:spcBef>
                <a:spcPts val="1240"/>
              </a:spcBef>
              <a:buFont typeface="Wingdings"/>
              <a:buChar char=""/>
              <a:tabLst>
                <a:tab pos="177165" algn="l"/>
              </a:tabLst>
            </a:pPr>
            <a:r>
              <a:rPr lang="en-US" sz="1100" b="1" noProof="0" dirty="0">
                <a:solidFill>
                  <a:srgbClr val="3A6278"/>
                </a:solidFill>
                <a:latin typeface="Calibri"/>
                <a:cs typeface="Calibri"/>
              </a:rPr>
              <a:t>HANDS-ON ENGINEERING SQUAD LEAD</a:t>
            </a:r>
            <a:endParaRPr lang="en-US" sz="1100" noProof="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n-US" sz="1400" noProof="0" dirty="0">
                <a:latin typeface="Calibri"/>
                <a:cs typeface="Calibri"/>
              </a:rPr>
              <a:t>KINGFISHER | 2026 to present</a:t>
            </a:r>
          </a:p>
          <a:p>
            <a:pPr marL="177165" marR="269240">
              <a:lnSpc>
                <a:spcPct val="101099"/>
              </a:lnSpc>
              <a:spcBef>
                <a:spcPts val="45"/>
              </a:spcBef>
            </a:pPr>
            <a:r>
              <a:rPr lang="en-US" sz="900" noProof="0" dirty="0">
                <a:latin typeface="Calibri"/>
                <a:cs typeface="Calibri"/>
              </a:rPr>
              <a:t>Hands-on leader of a 7-engineer squad. Coaching, technical decision-making, code reviews and delivery ownership for a large-scale digital platform. Focus on full-stack delivery, developer experience, CI/CD, observability and production reliability.</a:t>
            </a:r>
          </a:p>
          <a:p>
            <a:pPr marL="177165" marR="269240">
              <a:lnSpc>
                <a:spcPct val="101099"/>
              </a:lnSpc>
              <a:spcBef>
                <a:spcPts val="45"/>
              </a:spcBef>
            </a:pPr>
            <a:r>
              <a:rPr lang="en-US" sz="900" i="1" noProof="0" dirty="0">
                <a:latin typeface="Calibri"/>
                <a:cs typeface="Calibri"/>
              </a:rPr>
              <a:t>Stack: Vue, TypeScript, Tailwind, Alokai, Node.js, MySQL, AWS, GitLab CI, Terraform, Jira, Confluence, Datadog, New Relic...</a:t>
            </a:r>
            <a:endParaRPr lang="en-US" sz="900" noProof="0" dirty="0">
              <a:latin typeface="Calibri"/>
              <a:cs typeface="Calibri"/>
            </a:endParaRPr>
          </a:p>
          <a:p>
            <a:pPr marL="177165" marR="269240">
              <a:lnSpc>
                <a:spcPct val="101099"/>
              </a:lnSpc>
              <a:spcBef>
                <a:spcPts val="45"/>
              </a:spcBef>
            </a:pPr>
            <a:endParaRPr lang="en-US" sz="900" noProof="0" dirty="0">
              <a:latin typeface="Calibri"/>
              <a:cs typeface="Calibri"/>
            </a:endParaRPr>
          </a:p>
        </p:txBody>
      </p:sp>
      <p:sp>
        <p:nvSpPr>
          <p:cNvPr id="39" name="object 44">
            <a:extLst>
              <a:ext uri="{FF2B5EF4-FFF2-40B4-BE49-F238E27FC236}">
                <a16:creationId xmlns:a16="http://schemas.microsoft.com/office/drawing/2014/main" id="{6AF5DDCA-B2E6-D39D-C9FE-8FED07BA0E62}"/>
              </a:ext>
            </a:extLst>
          </p:cNvPr>
          <p:cNvSpPr txBox="1"/>
          <p:nvPr/>
        </p:nvSpPr>
        <p:spPr>
          <a:xfrm>
            <a:off x="361314" y="4114800"/>
            <a:ext cx="1840864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noProof="0" dirty="0">
                <a:solidFill>
                  <a:srgbClr val="FFFFFF"/>
                </a:solidFill>
                <a:latin typeface="Calibri"/>
                <a:cs typeface="Calibri"/>
              </a:rPr>
              <a:t>JS, TS, React, Angular, Vue, Astro….</a:t>
            </a:r>
            <a:endParaRPr lang="en-US" sz="1200" noProof="0" dirty="0">
              <a:latin typeface="Calibri"/>
              <a:cs typeface="Calibri"/>
            </a:endParaRPr>
          </a:p>
        </p:txBody>
      </p:sp>
      <p:sp>
        <p:nvSpPr>
          <p:cNvPr id="42" name="object 44">
            <a:extLst>
              <a:ext uri="{FF2B5EF4-FFF2-40B4-BE49-F238E27FC236}">
                <a16:creationId xmlns:a16="http://schemas.microsoft.com/office/drawing/2014/main" id="{FA696474-4405-9BD5-09A7-7C76AD3B6670}"/>
              </a:ext>
            </a:extLst>
          </p:cNvPr>
          <p:cNvSpPr txBox="1"/>
          <p:nvPr/>
        </p:nvSpPr>
        <p:spPr>
          <a:xfrm>
            <a:off x="361314" y="4800600"/>
            <a:ext cx="1840864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noProof="0" dirty="0">
                <a:solidFill>
                  <a:srgbClr val="FFFFFF"/>
                </a:solidFill>
                <a:latin typeface="Calibri"/>
                <a:cs typeface="Calibri"/>
              </a:rPr>
              <a:t>Python, PHP, </a:t>
            </a:r>
            <a:r>
              <a:rPr lang="en-US" sz="1200" noProof="0" dirty="0" err="1">
                <a:solidFill>
                  <a:srgbClr val="FFFFFF"/>
                </a:solidFill>
                <a:latin typeface="Calibri"/>
                <a:cs typeface="Calibri"/>
              </a:rPr>
              <a:t>FastAPI</a:t>
            </a:r>
            <a:r>
              <a:rPr lang="en-US" sz="1200" noProof="0" dirty="0">
                <a:solidFill>
                  <a:srgbClr val="FFFFFF"/>
                </a:solidFill>
                <a:latin typeface="Calibri"/>
                <a:cs typeface="Calibri"/>
              </a:rPr>
              <a:t>, Flask, Symfony…</a:t>
            </a:r>
            <a:endParaRPr lang="en-US" sz="1200" noProof="0" dirty="0">
              <a:latin typeface="Calibri"/>
              <a:cs typeface="Calibri"/>
            </a:endParaRPr>
          </a:p>
        </p:txBody>
      </p:sp>
      <p:sp>
        <p:nvSpPr>
          <p:cNvPr id="59" name="object 64">
            <a:extLst>
              <a:ext uri="{FF2B5EF4-FFF2-40B4-BE49-F238E27FC236}">
                <a16:creationId xmlns:a16="http://schemas.microsoft.com/office/drawing/2014/main" id="{2DB272DD-348F-9165-8855-AA7400658C64}"/>
              </a:ext>
            </a:extLst>
          </p:cNvPr>
          <p:cNvSpPr txBox="1"/>
          <p:nvPr/>
        </p:nvSpPr>
        <p:spPr>
          <a:xfrm>
            <a:off x="389661" y="6420579"/>
            <a:ext cx="1736268" cy="394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dirty="0">
                <a:solidFill>
                  <a:srgbClr val="FFFFFF"/>
                </a:solidFill>
                <a:latin typeface="Calibri"/>
                <a:cs typeface="Calibri"/>
              </a:rPr>
              <a:t>AWS Lambda, API Gateway,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noProof="0" dirty="0">
                <a:solidFill>
                  <a:srgbClr val="FFFFFF"/>
                </a:solidFill>
                <a:latin typeface="Calibri"/>
                <a:cs typeface="Calibri"/>
              </a:rPr>
              <a:t>SQS, SNS, CloudWatch…</a:t>
            </a:r>
            <a:endParaRPr lang="en-US" sz="1200" noProof="0" dirty="0">
              <a:latin typeface="Calibri"/>
              <a:cs typeface="Calibri"/>
            </a:endParaRPr>
          </a:p>
        </p:txBody>
      </p:sp>
      <p:sp>
        <p:nvSpPr>
          <p:cNvPr id="61" name="object 71">
            <a:extLst>
              <a:ext uri="{FF2B5EF4-FFF2-40B4-BE49-F238E27FC236}">
                <a16:creationId xmlns:a16="http://schemas.microsoft.com/office/drawing/2014/main" id="{9E0E3061-E905-7825-5040-18D73762577E}"/>
              </a:ext>
            </a:extLst>
          </p:cNvPr>
          <p:cNvSpPr txBox="1"/>
          <p:nvPr/>
        </p:nvSpPr>
        <p:spPr>
          <a:xfrm>
            <a:off x="364043" y="6974371"/>
            <a:ext cx="177609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b="1" noProof="0" dirty="0">
                <a:solidFill>
                  <a:srgbClr val="FFFFFF"/>
                </a:solidFill>
                <a:latin typeface="Calibri"/>
                <a:cs typeface="Calibri"/>
              </a:rPr>
              <a:t>Delivery &amp; Reliability</a:t>
            </a:r>
            <a:endParaRPr lang="en-US" sz="1200" noProof="0" dirty="0">
              <a:latin typeface="Calibri"/>
              <a:cs typeface="Calibri"/>
            </a:endParaRPr>
          </a:p>
        </p:txBody>
      </p:sp>
      <p:sp>
        <p:nvSpPr>
          <p:cNvPr id="63" name="object 64">
            <a:extLst>
              <a:ext uri="{FF2B5EF4-FFF2-40B4-BE49-F238E27FC236}">
                <a16:creationId xmlns:a16="http://schemas.microsoft.com/office/drawing/2014/main" id="{825AB7B9-BC57-1CD8-7EB4-627BA9710BA9}"/>
              </a:ext>
            </a:extLst>
          </p:cNvPr>
          <p:cNvSpPr txBox="1"/>
          <p:nvPr/>
        </p:nvSpPr>
        <p:spPr>
          <a:xfrm>
            <a:off x="363664" y="7159651"/>
            <a:ext cx="173626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dirty="0">
                <a:solidFill>
                  <a:srgbClr val="FFFFFF"/>
                </a:solidFill>
                <a:latin typeface="Calibri"/>
                <a:cs typeface="Calibri"/>
              </a:rPr>
              <a:t>CDK, CloudFormation, Terraform, GitLab CI, Datadog, New Relic…</a:t>
            </a:r>
            <a:endParaRPr lang="en-US" sz="1200" noProof="0" dirty="0">
              <a:latin typeface="Calibri"/>
              <a:cs typeface="Calibri"/>
            </a:endParaRPr>
          </a:p>
        </p:txBody>
      </p:sp>
      <p:sp>
        <p:nvSpPr>
          <p:cNvPr id="92" name="object 64">
            <a:extLst>
              <a:ext uri="{FF2B5EF4-FFF2-40B4-BE49-F238E27FC236}">
                <a16:creationId xmlns:a16="http://schemas.microsoft.com/office/drawing/2014/main" id="{562CC1B8-B300-1655-964F-BDAEA36CBBFF}"/>
              </a:ext>
            </a:extLst>
          </p:cNvPr>
          <p:cNvSpPr txBox="1"/>
          <p:nvPr/>
        </p:nvSpPr>
        <p:spPr>
          <a:xfrm>
            <a:off x="363664" y="7989272"/>
            <a:ext cx="1736268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dirty="0">
                <a:solidFill>
                  <a:srgbClr val="FFFFFF"/>
                </a:solidFill>
                <a:latin typeface="Calibri"/>
                <a:cs typeface="Calibri"/>
              </a:rPr>
              <a:t>Codex, OpenAI API, Claude code, </a:t>
            </a:r>
            <a:r>
              <a:rPr lang="en-US" sz="1200" dirty="0" err="1">
                <a:solidFill>
                  <a:srgbClr val="FFFFFF"/>
                </a:solidFill>
                <a:latin typeface="Calibri"/>
                <a:cs typeface="Calibri"/>
              </a:rPr>
              <a:t>BedRock</a:t>
            </a:r>
            <a:r>
              <a:rPr lang="en-US" sz="1200" dirty="0">
                <a:solidFill>
                  <a:srgbClr val="FFFFFF"/>
                </a:solidFill>
                <a:latin typeface="Calibri"/>
                <a:cs typeface="Calibri"/>
              </a:rPr>
              <a:t>, SageMaker</a:t>
            </a:r>
            <a:endParaRPr lang="en-US" sz="1200" noProof="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noProof="0" dirty="0"/>
              <a:t>Antoine</a:t>
            </a:r>
            <a:r>
              <a:rPr lang="en-US" spc="-170" noProof="0" dirty="0"/>
              <a:t> </a:t>
            </a:r>
            <a:r>
              <a:rPr lang="en-US" spc="-10" noProof="0" dirty="0"/>
              <a:t>CHEDEBOIS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473832" y="5095488"/>
            <a:ext cx="3691890" cy="2600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1400" b="1" noProof="0" dirty="0">
                <a:solidFill>
                  <a:srgbClr val="3A6278"/>
                </a:solidFill>
                <a:latin typeface="Calibri"/>
                <a:cs typeface="Calibri"/>
              </a:rPr>
              <a:t>AWS AI Practitioner | 2025</a:t>
            </a:r>
          </a:p>
          <a:p>
            <a:pPr marL="12700">
              <a:spcBef>
                <a:spcPts val="100"/>
              </a:spcBef>
            </a:pPr>
            <a:endParaRPr lang="en-US" sz="800" b="1" dirty="0">
              <a:solidFill>
                <a:srgbClr val="3A6278"/>
              </a:solidFill>
              <a:latin typeface="Calibri"/>
              <a:cs typeface="Calibri"/>
            </a:endParaRPr>
          </a:p>
          <a:p>
            <a:pPr marL="12700">
              <a:spcBef>
                <a:spcPts val="100"/>
              </a:spcBef>
            </a:pPr>
            <a:r>
              <a:rPr lang="en-US" sz="1400" b="1" noProof="0" dirty="0">
                <a:solidFill>
                  <a:srgbClr val="3A6278"/>
                </a:solidFill>
                <a:latin typeface="Calibri"/>
                <a:cs typeface="Calibri"/>
              </a:rPr>
              <a:t>AWS Solutions Architect Associate | 2024</a:t>
            </a:r>
          </a:p>
          <a:p>
            <a:pPr marL="12700">
              <a:spcBef>
                <a:spcPts val="100"/>
              </a:spcBef>
            </a:pPr>
            <a:endParaRPr lang="en-US" sz="800" noProof="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400" b="1" noProof="0" dirty="0">
                <a:solidFill>
                  <a:srgbClr val="3A6278"/>
                </a:solidFill>
                <a:latin typeface="Calibri"/>
                <a:cs typeface="Calibri"/>
              </a:rPr>
              <a:t>AWS Certified Developer | 2020</a:t>
            </a:r>
            <a:endParaRPr lang="en-US" sz="1100" noProof="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lang="en-US" sz="1100" b="1" noProof="0" dirty="0">
                <a:solidFill>
                  <a:srgbClr val="3A6278"/>
                </a:solidFill>
                <a:latin typeface="Calibri"/>
                <a:cs typeface="Calibri"/>
              </a:rPr>
              <a:t>AWS Cloud Practitioner | 2020 &amp; 2024</a:t>
            </a:r>
            <a:endParaRPr lang="en-US" sz="1100" noProof="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lang="en-US" sz="1100" b="1" spc="-10" noProof="0" dirty="0">
                <a:solidFill>
                  <a:srgbClr val="3A6278"/>
                </a:solidFill>
                <a:latin typeface="Calibri"/>
                <a:cs typeface="Calibri"/>
              </a:rPr>
              <a:t>Professional Scrum Master 1 | Scrum.org | 2019</a:t>
            </a:r>
            <a:endParaRPr lang="en-US" sz="1100" noProof="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30"/>
              </a:spcBef>
            </a:pPr>
            <a:r>
              <a:rPr lang="en-US" sz="1100" b="1" spc="-10" noProof="0" dirty="0">
                <a:solidFill>
                  <a:srgbClr val="3A6278"/>
                </a:solidFill>
                <a:latin typeface="Calibri"/>
                <a:cs typeface="Calibri"/>
              </a:rPr>
              <a:t>Professional Scrum Product Owner 1 | Scrum.org | 2019</a:t>
            </a:r>
            <a:endParaRPr lang="en-US" sz="1100" noProof="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50"/>
              </a:spcBef>
            </a:pPr>
            <a:r>
              <a:rPr lang="en-US" sz="1100" b="1" spc="-10" noProof="0" dirty="0">
                <a:solidFill>
                  <a:srgbClr val="3A6278"/>
                </a:solidFill>
                <a:latin typeface="Calibri"/>
                <a:cs typeface="Calibri"/>
              </a:rPr>
              <a:t>Professional Scrum Developer 1 | Scrum.org | 2019</a:t>
            </a:r>
            <a:endParaRPr lang="en-US" sz="1100" noProof="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</a:pPr>
            <a:endParaRPr lang="en-US" sz="1100" noProof="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076576" y="4706233"/>
            <a:ext cx="2939415" cy="541655"/>
            <a:chOff x="2076576" y="830580"/>
            <a:chExt cx="2939415" cy="541655"/>
          </a:xfrm>
        </p:grpSpPr>
        <p:sp>
          <p:nvSpPr>
            <p:cNvPr id="5" name="object 5"/>
            <p:cNvSpPr/>
            <p:nvPr/>
          </p:nvSpPr>
          <p:spPr>
            <a:xfrm>
              <a:off x="2076576" y="1167257"/>
              <a:ext cx="253365" cy="205104"/>
            </a:xfrm>
            <a:custGeom>
              <a:avLst/>
              <a:gdLst/>
              <a:ahLst/>
              <a:cxnLst/>
              <a:rect l="l" t="t" r="r" b="b"/>
              <a:pathLst>
                <a:path w="253364" h="205105">
                  <a:moveTo>
                    <a:pt x="0" y="0"/>
                  </a:moveTo>
                  <a:lnTo>
                    <a:pt x="250317" y="204850"/>
                  </a:lnTo>
                  <a:lnTo>
                    <a:pt x="253365" y="27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A4653"/>
            </a:solidFill>
          </p:spPr>
          <p:txBody>
            <a:bodyPr wrap="square" lIns="0" tIns="0" rIns="0" bIns="0" rtlCol="0"/>
            <a:lstStyle/>
            <a:p>
              <a:endParaRPr lang="en-US" noProof="0" dirty="0"/>
            </a:p>
          </p:txBody>
        </p:sp>
        <p:sp>
          <p:nvSpPr>
            <p:cNvPr id="6" name="object 6"/>
            <p:cNvSpPr/>
            <p:nvPr/>
          </p:nvSpPr>
          <p:spPr>
            <a:xfrm>
              <a:off x="2077211" y="830580"/>
              <a:ext cx="2938780" cy="338455"/>
            </a:xfrm>
            <a:custGeom>
              <a:avLst/>
              <a:gdLst/>
              <a:ahLst/>
              <a:cxnLst/>
              <a:rect l="l" t="t" r="r" b="b"/>
              <a:pathLst>
                <a:path w="2938779" h="338455">
                  <a:moveTo>
                    <a:pt x="2881884" y="0"/>
                  </a:moveTo>
                  <a:lnTo>
                    <a:pt x="0" y="0"/>
                  </a:lnTo>
                  <a:lnTo>
                    <a:pt x="0" y="338327"/>
                  </a:lnTo>
                  <a:lnTo>
                    <a:pt x="2938272" y="338327"/>
                  </a:lnTo>
                  <a:lnTo>
                    <a:pt x="2938272" y="56388"/>
                  </a:lnTo>
                  <a:lnTo>
                    <a:pt x="2881884" y="0"/>
                  </a:lnTo>
                  <a:close/>
                </a:path>
              </a:pathLst>
            </a:custGeom>
            <a:solidFill>
              <a:srgbClr val="3A6278"/>
            </a:solidFill>
          </p:spPr>
          <p:txBody>
            <a:bodyPr wrap="square" lIns="0" tIns="0" rIns="0" bIns="0" rtlCol="0"/>
            <a:lstStyle/>
            <a:p>
              <a:endParaRPr lang="en-US" noProof="0" dirty="0"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328798" y="4720838"/>
            <a:ext cx="24314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800" b="1" noProof="0" dirty="0">
                <a:solidFill>
                  <a:srgbClr val="FFFFFF"/>
                </a:solidFill>
                <a:latin typeface="Calibri"/>
                <a:cs typeface="Calibri"/>
              </a:rPr>
              <a:t>LAST</a:t>
            </a:r>
            <a:r>
              <a:rPr lang="en-US" sz="1800" b="1" spc="-10" noProof="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1800" b="1" noProof="0" dirty="0">
                <a:solidFill>
                  <a:srgbClr val="FFFFFF"/>
                </a:solidFill>
                <a:latin typeface="Calibri"/>
                <a:cs typeface="Calibri"/>
              </a:rPr>
              <a:t>TRAININGS</a:t>
            </a:r>
            <a:r>
              <a:rPr lang="en-US" sz="1800" b="1" spc="-40" noProof="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1800" b="1" noProof="0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lang="en-US" sz="1800" b="1" spc="-5" noProof="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1800" b="1" spc="-20" noProof="0" dirty="0">
                <a:solidFill>
                  <a:srgbClr val="FFFFFF"/>
                </a:solidFill>
                <a:latin typeface="Calibri"/>
                <a:cs typeface="Calibri"/>
              </a:rPr>
              <a:t>CERTS</a:t>
            </a:r>
            <a:endParaRPr lang="en-US" sz="1800" noProof="0" dirty="0">
              <a:latin typeface="Calibri"/>
              <a:cs typeface="Calibri"/>
            </a:endParaRPr>
          </a:p>
        </p:txBody>
      </p:sp>
      <p:grpSp>
        <p:nvGrpSpPr>
          <p:cNvPr id="37" name="Groupe 36">
            <a:extLst>
              <a:ext uri="{FF2B5EF4-FFF2-40B4-BE49-F238E27FC236}">
                <a16:creationId xmlns:a16="http://schemas.microsoft.com/office/drawing/2014/main" id="{2421E6B7-36B6-6D4D-D89B-D0761D205883}"/>
              </a:ext>
            </a:extLst>
          </p:cNvPr>
          <p:cNvGrpSpPr/>
          <p:nvPr/>
        </p:nvGrpSpPr>
        <p:grpSpPr>
          <a:xfrm>
            <a:off x="2064385" y="7608235"/>
            <a:ext cx="2954655" cy="546479"/>
            <a:chOff x="2064385" y="3662046"/>
            <a:chExt cx="2954655" cy="546479"/>
          </a:xfrm>
        </p:grpSpPr>
        <p:grpSp>
          <p:nvGrpSpPr>
            <p:cNvPr id="36" name="Groupe 35">
              <a:extLst>
                <a:ext uri="{FF2B5EF4-FFF2-40B4-BE49-F238E27FC236}">
                  <a16:creationId xmlns:a16="http://schemas.microsoft.com/office/drawing/2014/main" id="{0C769E73-6067-F437-6C47-835CE38C9A87}"/>
                </a:ext>
              </a:extLst>
            </p:cNvPr>
            <p:cNvGrpSpPr/>
            <p:nvPr/>
          </p:nvGrpSpPr>
          <p:grpSpPr>
            <a:xfrm>
              <a:off x="2080260" y="3662046"/>
              <a:ext cx="2938780" cy="338455"/>
              <a:chOff x="2080260" y="3666744"/>
              <a:chExt cx="2938780" cy="338455"/>
            </a:xfrm>
          </p:grpSpPr>
          <p:sp>
            <p:nvSpPr>
              <p:cNvPr id="8" name="object 8"/>
              <p:cNvSpPr/>
              <p:nvPr/>
            </p:nvSpPr>
            <p:spPr>
              <a:xfrm>
                <a:off x="2080260" y="3666744"/>
                <a:ext cx="2938780" cy="338455"/>
              </a:xfrm>
              <a:custGeom>
                <a:avLst/>
                <a:gdLst/>
                <a:ahLst/>
                <a:cxnLst/>
                <a:rect l="l" t="t" r="r" b="b"/>
                <a:pathLst>
                  <a:path w="2938779" h="338454">
                    <a:moveTo>
                      <a:pt x="2881884" y="0"/>
                    </a:moveTo>
                    <a:lnTo>
                      <a:pt x="0" y="0"/>
                    </a:lnTo>
                    <a:lnTo>
                      <a:pt x="0" y="338327"/>
                    </a:lnTo>
                    <a:lnTo>
                      <a:pt x="2938272" y="338327"/>
                    </a:lnTo>
                    <a:lnTo>
                      <a:pt x="2938272" y="56387"/>
                    </a:lnTo>
                    <a:lnTo>
                      <a:pt x="2881884" y="0"/>
                    </a:lnTo>
                    <a:close/>
                  </a:path>
                </a:pathLst>
              </a:custGeom>
              <a:solidFill>
                <a:srgbClr val="3A6278"/>
              </a:solidFill>
            </p:spPr>
            <p:txBody>
              <a:bodyPr wrap="square" lIns="0" tIns="0" rIns="0" bIns="0" rtlCol="0"/>
              <a:lstStyle/>
              <a:p>
                <a:endParaRPr lang="en-US" noProof="0" dirty="0"/>
              </a:p>
            </p:txBody>
          </p:sp>
          <p:sp>
            <p:nvSpPr>
              <p:cNvPr id="12" name="object 12"/>
              <p:cNvSpPr txBox="1"/>
              <p:nvPr/>
            </p:nvSpPr>
            <p:spPr>
              <a:xfrm>
                <a:off x="2328798" y="3693540"/>
                <a:ext cx="1149985" cy="299720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lang="en-US" sz="1800" b="1" spc="-10" noProof="0" dirty="0">
                    <a:solidFill>
                      <a:srgbClr val="FFFFFF"/>
                    </a:solidFill>
                    <a:latin typeface="Calibri"/>
                    <a:cs typeface="Calibri"/>
                  </a:rPr>
                  <a:t>EDUCATION</a:t>
                </a:r>
                <a:endParaRPr lang="en-US" sz="1800" noProof="0" dirty="0">
                  <a:latin typeface="Calibri"/>
                  <a:cs typeface="Calibri"/>
                </a:endParaRPr>
              </a:p>
            </p:txBody>
          </p:sp>
        </p:grpSp>
        <p:sp>
          <p:nvSpPr>
            <p:cNvPr id="13" name="object 13"/>
            <p:cNvSpPr/>
            <p:nvPr/>
          </p:nvSpPr>
          <p:spPr>
            <a:xfrm>
              <a:off x="2064385" y="4003421"/>
              <a:ext cx="254000" cy="205104"/>
            </a:xfrm>
            <a:custGeom>
              <a:avLst/>
              <a:gdLst/>
              <a:ahLst/>
              <a:cxnLst/>
              <a:rect l="l" t="t" r="r" b="b"/>
              <a:pathLst>
                <a:path w="254000" h="205104">
                  <a:moveTo>
                    <a:pt x="0" y="0"/>
                  </a:moveTo>
                  <a:lnTo>
                    <a:pt x="250316" y="204977"/>
                  </a:lnTo>
                  <a:lnTo>
                    <a:pt x="253491" y="27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A4653"/>
            </a:solidFill>
          </p:spPr>
          <p:txBody>
            <a:bodyPr wrap="square" lIns="0" tIns="0" rIns="0" bIns="0" rtlCol="0"/>
            <a:lstStyle/>
            <a:p>
              <a:endParaRPr lang="en-US" noProof="0" dirty="0"/>
            </a:p>
          </p:txBody>
        </p:sp>
      </p:grp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4352" y="8752014"/>
            <a:ext cx="577118" cy="1077532"/>
          </a:xfrm>
          <a:prstGeom prst="rect">
            <a:avLst/>
          </a:prstGeom>
        </p:spPr>
      </p:pic>
      <p:grpSp>
        <p:nvGrpSpPr>
          <p:cNvPr id="17" name="object 17"/>
          <p:cNvGrpSpPr/>
          <p:nvPr/>
        </p:nvGrpSpPr>
        <p:grpSpPr>
          <a:xfrm>
            <a:off x="1468528" y="7689942"/>
            <a:ext cx="565203" cy="1062072"/>
            <a:chOff x="885901" y="2513125"/>
            <a:chExt cx="668655" cy="1134110"/>
          </a:xfrm>
        </p:grpSpPr>
        <p:sp>
          <p:nvSpPr>
            <p:cNvPr id="18" name="object 18"/>
            <p:cNvSpPr/>
            <p:nvPr/>
          </p:nvSpPr>
          <p:spPr>
            <a:xfrm>
              <a:off x="1066326" y="2914998"/>
              <a:ext cx="306705" cy="732155"/>
            </a:xfrm>
            <a:custGeom>
              <a:avLst/>
              <a:gdLst/>
              <a:ahLst/>
              <a:cxnLst/>
              <a:rect l="l" t="t" r="r" b="b"/>
              <a:pathLst>
                <a:path w="306705" h="732154">
                  <a:moveTo>
                    <a:pt x="306376" y="0"/>
                  </a:moveTo>
                  <a:lnTo>
                    <a:pt x="0" y="0"/>
                  </a:lnTo>
                  <a:lnTo>
                    <a:pt x="0" y="732119"/>
                  </a:lnTo>
                  <a:lnTo>
                    <a:pt x="153200" y="578604"/>
                  </a:lnTo>
                  <a:lnTo>
                    <a:pt x="306376" y="732119"/>
                  </a:lnTo>
                  <a:lnTo>
                    <a:pt x="306376" y="0"/>
                  </a:lnTo>
                  <a:close/>
                </a:path>
              </a:pathLst>
            </a:custGeom>
            <a:solidFill>
              <a:srgbClr val="CF4627"/>
            </a:solidFill>
          </p:spPr>
          <p:txBody>
            <a:bodyPr wrap="square" lIns="0" tIns="0" rIns="0" bIns="0" rtlCol="0"/>
            <a:lstStyle/>
            <a:p>
              <a:endParaRPr lang="en-US" noProof="0" dirty="0"/>
            </a:p>
          </p:txBody>
        </p:sp>
        <p:sp>
          <p:nvSpPr>
            <p:cNvPr id="19" name="object 19"/>
            <p:cNvSpPr/>
            <p:nvPr/>
          </p:nvSpPr>
          <p:spPr>
            <a:xfrm>
              <a:off x="1079785" y="2928464"/>
              <a:ext cx="280035" cy="686435"/>
            </a:xfrm>
            <a:custGeom>
              <a:avLst/>
              <a:gdLst/>
              <a:ahLst/>
              <a:cxnLst/>
              <a:rect l="l" t="t" r="r" b="b"/>
              <a:pathLst>
                <a:path w="280034" h="686435">
                  <a:moveTo>
                    <a:pt x="152650" y="546163"/>
                  </a:moveTo>
                  <a:lnTo>
                    <a:pt x="139742" y="546163"/>
                  </a:lnTo>
                  <a:lnTo>
                    <a:pt x="279446" y="686175"/>
                  </a:lnTo>
                  <a:lnTo>
                    <a:pt x="279446" y="664183"/>
                  </a:lnTo>
                  <a:lnTo>
                    <a:pt x="270377" y="664183"/>
                  </a:lnTo>
                  <a:lnTo>
                    <a:pt x="152650" y="546163"/>
                  </a:lnTo>
                  <a:close/>
                </a:path>
                <a:path w="280034" h="686435">
                  <a:moveTo>
                    <a:pt x="279446" y="0"/>
                  </a:moveTo>
                  <a:lnTo>
                    <a:pt x="0" y="0"/>
                  </a:lnTo>
                  <a:lnTo>
                    <a:pt x="0" y="686084"/>
                  </a:lnTo>
                  <a:lnTo>
                    <a:pt x="21873" y="664182"/>
                  </a:lnTo>
                  <a:lnTo>
                    <a:pt x="9069" y="664182"/>
                  </a:lnTo>
                  <a:lnTo>
                    <a:pt x="9069" y="9078"/>
                  </a:lnTo>
                  <a:lnTo>
                    <a:pt x="279446" y="9078"/>
                  </a:lnTo>
                  <a:lnTo>
                    <a:pt x="279446" y="0"/>
                  </a:lnTo>
                  <a:close/>
                </a:path>
                <a:path w="280034" h="686435">
                  <a:moveTo>
                    <a:pt x="139742" y="533223"/>
                  </a:moveTo>
                  <a:lnTo>
                    <a:pt x="9069" y="664182"/>
                  </a:lnTo>
                  <a:lnTo>
                    <a:pt x="21873" y="664182"/>
                  </a:lnTo>
                  <a:lnTo>
                    <a:pt x="139742" y="546163"/>
                  </a:lnTo>
                  <a:lnTo>
                    <a:pt x="152650" y="546163"/>
                  </a:lnTo>
                  <a:lnTo>
                    <a:pt x="139742" y="533223"/>
                  </a:lnTo>
                  <a:close/>
                </a:path>
                <a:path w="280034" h="686435">
                  <a:moveTo>
                    <a:pt x="279446" y="9078"/>
                  </a:moveTo>
                  <a:lnTo>
                    <a:pt x="270377" y="9078"/>
                  </a:lnTo>
                  <a:lnTo>
                    <a:pt x="270377" y="664183"/>
                  </a:lnTo>
                  <a:lnTo>
                    <a:pt x="279446" y="664183"/>
                  </a:lnTo>
                  <a:lnTo>
                    <a:pt x="279446" y="9078"/>
                  </a:lnTo>
                  <a:close/>
                </a:path>
              </a:pathLst>
            </a:custGeom>
            <a:solidFill>
              <a:srgbClr val="E1907C"/>
            </a:solidFill>
          </p:spPr>
          <p:txBody>
            <a:bodyPr wrap="square" lIns="0" tIns="0" rIns="0" bIns="0" rtlCol="0"/>
            <a:lstStyle/>
            <a:p>
              <a:endParaRPr lang="en-US" noProof="0" dirty="0"/>
            </a:p>
          </p:txBody>
        </p:sp>
        <p:sp>
          <p:nvSpPr>
            <p:cNvPr id="20" name="object 20"/>
            <p:cNvSpPr/>
            <p:nvPr/>
          </p:nvSpPr>
          <p:spPr>
            <a:xfrm>
              <a:off x="885901" y="2513125"/>
              <a:ext cx="668655" cy="669290"/>
            </a:xfrm>
            <a:custGeom>
              <a:avLst/>
              <a:gdLst/>
              <a:ahLst/>
              <a:cxnLst/>
              <a:rect l="l" t="t" r="r" b="b"/>
              <a:pathLst>
                <a:path w="668655" h="669289">
                  <a:moveTo>
                    <a:pt x="356952" y="0"/>
                  </a:moveTo>
                  <a:lnTo>
                    <a:pt x="310299" y="0"/>
                  </a:lnTo>
                  <a:lnTo>
                    <a:pt x="264012" y="6482"/>
                  </a:lnTo>
                  <a:lnTo>
                    <a:pt x="218822" y="19447"/>
                  </a:lnTo>
                  <a:lnTo>
                    <a:pt x="175460" y="38894"/>
                  </a:lnTo>
                  <a:lnTo>
                    <a:pt x="134658" y="64824"/>
                  </a:lnTo>
                  <a:lnTo>
                    <a:pt x="97146" y="97236"/>
                  </a:lnTo>
                  <a:lnTo>
                    <a:pt x="64765" y="134781"/>
                  </a:lnTo>
                  <a:lnTo>
                    <a:pt x="38860" y="175622"/>
                  </a:lnTo>
                  <a:lnTo>
                    <a:pt x="19430" y="219027"/>
                  </a:lnTo>
                  <a:lnTo>
                    <a:pt x="6477" y="264262"/>
                  </a:lnTo>
                  <a:lnTo>
                    <a:pt x="0" y="310597"/>
                  </a:lnTo>
                  <a:lnTo>
                    <a:pt x="0" y="357298"/>
                  </a:lnTo>
                  <a:lnTo>
                    <a:pt x="6475" y="403634"/>
                  </a:lnTo>
                  <a:lnTo>
                    <a:pt x="19427" y="448872"/>
                  </a:lnTo>
                  <a:lnTo>
                    <a:pt x="38854" y="492279"/>
                  </a:lnTo>
                  <a:lnTo>
                    <a:pt x="64759" y="533124"/>
                  </a:lnTo>
                  <a:lnTo>
                    <a:pt x="97139" y="570674"/>
                  </a:lnTo>
                  <a:lnTo>
                    <a:pt x="137304" y="604976"/>
                  </a:lnTo>
                  <a:lnTo>
                    <a:pt x="181934" y="632304"/>
                  </a:lnTo>
                  <a:lnTo>
                    <a:pt x="230131" y="652287"/>
                  </a:lnTo>
                  <a:lnTo>
                    <a:pt x="280995" y="664550"/>
                  </a:lnTo>
                  <a:lnTo>
                    <a:pt x="333626" y="668721"/>
                  </a:lnTo>
                  <a:lnTo>
                    <a:pt x="383047" y="665091"/>
                  </a:lnTo>
                  <a:lnTo>
                    <a:pt x="430217" y="654548"/>
                  </a:lnTo>
                  <a:lnTo>
                    <a:pt x="474617" y="637609"/>
                  </a:lnTo>
                  <a:lnTo>
                    <a:pt x="515731" y="614792"/>
                  </a:lnTo>
                  <a:lnTo>
                    <a:pt x="553042" y="586614"/>
                  </a:lnTo>
                  <a:lnTo>
                    <a:pt x="586031" y="553594"/>
                  </a:lnTo>
                  <a:lnTo>
                    <a:pt x="614184" y="516248"/>
                  </a:lnTo>
                  <a:lnTo>
                    <a:pt x="636981" y="475096"/>
                  </a:lnTo>
                  <a:lnTo>
                    <a:pt x="653906" y="430654"/>
                  </a:lnTo>
                  <a:lnTo>
                    <a:pt x="664443" y="383441"/>
                  </a:lnTo>
                  <a:lnTo>
                    <a:pt x="668074" y="333974"/>
                  </a:lnTo>
                  <a:lnTo>
                    <a:pt x="663907" y="281283"/>
                  </a:lnTo>
                  <a:lnTo>
                    <a:pt x="651655" y="230366"/>
                  </a:lnTo>
                  <a:lnTo>
                    <a:pt x="631690" y="182120"/>
                  </a:lnTo>
                  <a:lnTo>
                    <a:pt x="604383" y="137445"/>
                  </a:lnTo>
                  <a:lnTo>
                    <a:pt x="570107" y="97236"/>
                  </a:lnTo>
                  <a:lnTo>
                    <a:pt x="532595" y="64824"/>
                  </a:lnTo>
                  <a:lnTo>
                    <a:pt x="491792" y="38894"/>
                  </a:lnTo>
                  <a:lnTo>
                    <a:pt x="448430" y="19447"/>
                  </a:lnTo>
                  <a:lnTo>
                    <a:pt x="403240" y="6482"/>
                  </a:lnTo>
                  <a:lnTo>
                    <a:pt x="356952" y="0"/>
                  </a:lnTo>
                  <a:close/>
                </a:path>
              </a:pathLst>
            </a:custGeom>
            <a:solidFill>
              <a:srgbClr val="CF4627"/>
            </a:solidFill>
          </p:spPr>
          <p:txBody>
            <a:bodyPr wrap="square" lIns="0" tIns="0" rIns="0" bIns="0" rtlCol="0"/>
            <a:lstStyle/>
            <a:p>
              <a:endParaRPr lang="en-US" noProof="0" dirty="0"/>
            </a:p>
          </p:txBody>
        </p:sp>
        <p:sp>
          <p:nvSpPr>
            <p:cNvPr id="21" name="object 21"/>
            <p:cNvSpPr/>
            <p:nvPr/>
          </p:nvSpPr>
          <p:spPr>
            <a:xfrm>
              <a:off x="890079" y="2516326"/>
              <a:ext cx="659130" cy="661670"/>
            </a:xfrm>
            <a:custGeom>
              <a:avLst/>
              <a:gdLst/>
              <a:ahLst/>
              <a:cxnLst/>
              <a:rect l="l" t="t" r="r" b="b"/>
              <a:pathLst>
                <a:path w="659130" h="661669">
                  <a:moveTo>
                    <a:pt x="67995" y="278333"/>
                  </a:moveTo>
                  <a:lnTo>
                    <a:pt x="63944" y="272453"/>
                  </a:lnTo>
                  <a:lnTo>
                    <a:pt x="57823" y="271297"/>
                  </a:lnTo>
                  <a:lnTo>
                    <a:pt x="51663" y="270141"/>
                  </a:lnTo>
                  <a:lnTo>
                    <a:pt x="45745" y="274205"/>
                  </a:lnTo>
                  <a:lnTo>
                    <a:pt x="43434" y="286524"/>
                  </a:lnTo>
                  <a:lnTo>
                    <a:pt x="47485" y="292455"/>
                  </a:lnTo>
                  <a:lnTo>
                    <a:pt x="59791" y="294767"/>
                  </a:lnTo>
                  <a:lnTo>
                    <a:pt x="65722" y="290703"/>
                  </a:lnTo>
                  <a:lnTo>
                    <a:pt x="67995" y="278333"/>
                  </a:lnTo>
                  <a:close/>
                </a:path>
                <a:path w="659130" h="661669">
                  <a:moveTo>
                    <a:pt x="68237" y="383324"/>
                  </a:moveTo>
                  <a:lnTo>
                    <a:pt x="65963" y="370928"/>
                  </a:lnTo>
                  <a:lnTo>
                    <a:pt x="60096" y="366890"/>
                  </a:lnTo>
                  <a:lnTo>
                    <a:pt x="53962" y="367982"/>
                  </a:lnTo>
                  <a:lnTo>
                    <a:pt x="47802" y="369100"/>
                  </a:lnTo>
                  <a:lnTo>
                    <a:pt x="43700" y="374992"/>
                  </a:lnTo>
                  <a:lnTo>
                    <a:pt x="45923" y="387324"/>
                  </a:lnTo>
                  <a:lnTo>
                    <a:pt x="51816" y="391439"/>
                  </a:lnTo>
                  <a:lnTo>
                    <a:pt x="64135" y="389216"/>
                  </a:lnTo>
                  <a:lnTo>
                    <a:pt x="68237" y="383324"/>
                  </a:lnTo>
                  <a:close/>
                </a:path>
                <a:path w="659130" h="661669">
                  <a:moveTo>
                    <a:pt x="101803" y="469531"/>
                  </a:moveTo>
                  <a:lnTo>
                    <a:pt x="98628" y="463981"/>
                  </a:lnTo>
                  <a:lnTo>
                    <a:pt x="95389" y="458749"/>
                  </a:lnTo>
                  <a:lnTo>
                    <a:pt x="88620" y="456946"/>
                  </a:lnTo>
                  <a:lnTo>
                    <a:pt x="83210" y="459905"/>
                  </a:lnTo>
                  <a:lnTo>
                    <a:pt x="77787" y="463016"/>
                  </a:lnTo>
                  <a:lnTo>
                    <a:pt x="75907" y="469963"/>
                  </a:lnTo>
                  <a:lnTo>
                    <a:pt x="82143" y="480834"/>
                  </a:lnTo>
                  <a:lnTo>
                    <a:pt x="89077" y="482714"/>
                  </a:lnTo>
                  <a:lnTo>
                    <a:pt x="99936" y="476465"/>
                  </a:lnTo>
                  <a:lnTo>
                    <a:pt x="101803" y="469531"/>
                  </a:lnTo>
                  <a:close/>
                </a:path>
                <a:path w="659130" h="661669">
                  <a:moveTo>
                    <a:pt x="101904" y="192201"/>
                  </a:moveTo>
                  <a:lnTo>
                    <a:pt x="100101" y="185242"/>
                  </a:lnTo>
                  <a:lnTo>
                    <a:pt x="89319" y="178879"/>
                  </a:lnTo>
                  <a:lnTo>
                    <a:pt x="82372" y="180682"/>
                  </a:lnTo>
                  <a:lnTo>
                    <a:pt x="75984" y="191503"/>
                  </a:lnTo>
                  <a:lnTo>
                    <a:pt x="77724" y="198361"/>
                  </a:lnTo>
                  <a:lnTo>
                    <a:pt x="83210" y="201625"/>
                  </a:lnTo>
                  <a:lnTo>
                    <a:pt x="88607" y="204800"/>
                  </a:lnTo>
                  <a:lnTo>
                    <a:pt x="95554" y="202996"/>
                  </a:lnTo>
                  <a:lnTo>
                    <a:pt x="101904" y="192201"/>
                  </a:lnTo>
                  <a:close/>
                </a:path>
                <a:path w="659130" h="661669">
                  <a:moveTo>
                    <a:pt x="163474" y="546582"/>
                  </a:moveTo>
                  <a:lnTo>
                    <a:pt x="162902" y="539407"/>
                  </a:lnTo>
                  <a:lnTo>
                    <a:pt x="158038" y="535254"/>
                  </a:lnTo>
                  <a:lnTo>
                    <a:pt x="153492" y="531228"/>
                  </a:lnTo>
                  <a:lnTo>
                    <a:pt x="146532" y="531660"/>
                  </a:lnTo>
                  <a:lnTo>
                    <a:pt x="142163" y="536613"/>
                  </a:lnTo>
                  <a:lnTo>
                    <a:pt x="138099" y="541375"/>
                  </a:lnTo>
                  <a:lnTo>
                    <a:pt x="138671" y="548551"/>
                  </a:lnTo>
                  <a:lnTo>
                    <a:pt x="148196" y="556679"/>
                  </a:lnTo>
                  <a:lnTo>
                    <a:pt x="155346" y="556107"/>
                  </a:lnTo>
                  <a:lnTo>
                    <a:pt x="163474" y="546582"/>
                  </a:lnTo>
                  <a:close/>
                </a:path>
                <a:path w="659130" h="661669">
                  <a:moveTo>
                    <a:pt x="163487" y="115316"/>
                  </a:moveTo>
                  <a:lnTo>
                    <a:pt x="159397" y="110375"/>
                  </a:lnTo>
                  <a:lnTo>
                    <a:pt x="155371" y="105651"/>
                  </a:lnTo>
                  <a:lnTo>
                    <a:pt x="148297" y="105054"/>
                  </a:lnTo>
                  <a:lnTo>
                    <a:pt x="143522" y="109016"/>
                  </a:lnTo>
                  <a:lnTo>
                    <a:pt x="138709" y="113030"/>
                  </a:lnTo>
                  <a:lnTo>
                    <a:pt x="138049" y="120180"/>
                  </a:lnTo>
                  <a:lnTo>
                    <a:pt x="146050" y="129819"/>
                  </a:lnTo>
                  <a:lnTo>
                    <a:pt x="153200" y="130492"/>
                  </a:lnTo>
                  <a:lnTo>
                    <a:pt x="162826" y="122466"/>
                  </a:lnTo>
                  <a:lnTo>
                    <a:pt x="163487" y="115316"/>
                  </a:lnTo>
                  <a:close/>
                </a:path>
                <a:path w="659130" h="661669">
                  <a:moveTo>
                    <a:pt x="245681" y="585787"/>
                  </a:moveTo>
                  <a:lnTo>
                    <a:pt x="240614" y="580720"/>
                  </a:lnTo>
                  <a:lnTo>
                    <a:pt x="228092" y="580720"/>
                  </a:lnTo>
                  <a:lnTo>
                    <a:pt x="223012" y="585787"/>
                  </a:lnTo>
                  <a:lnTo>
                    <a:pt x="223012" y="598322"/>
                  </a:lnTo>
                  <a:lnTo>
                    <a:pt x="228092" y="603415"/>
                  </a:lnTo>
                  <a:lnTo>
                    <a:pt x="240614" y="603415"/>
                  </a:lnTo>
                  <a:lnTo>
                    <a:pt x="245681" y="598322"/>
                  </a:lnTo>
                  <a:lnTo>
                    <a:pt x="245681" y="592061"/>
                  </a:lnTo>
                  <a:lnTo>
                    <a:pt x="245681" y="585787"/>
                  </a:lnTo>
                  <a:close/>
                </a:path>
                <a:path w="659130" h="661669">
                  <a:moveTo>
                    <a:pt x="247230" y="71348"/>
                  </a:moveTo>
                  <a:lnTo>
                    <a:pt x="242976" y="59537"/>
                  </a:lnTo>
                  <a:lnTo>
                    <a:pt x="236486" y="56502"/>
                  </a:lnTo>
                  <a:lnTo>
                    <a:pt x="224713" y="60756"/>
                  </a:lnTo>
                  <a:lnTo>
                    <a:pt x="221653" y="67259"/>
                  </a:lnTo>
                  <a:lnTo>
                    <a:pt x="223786" y="73164"/>
                  </a:lnTo>
                  <a:lnTo>
                    <a:pt x="225755" y="78968"/>
                  </a:lnTo>
                  <a:lnTo>
                    <a:pt x="232016" y="82105"/>
                  </a:lnTo>
                  <a:lnTo>
                    <a:pt x="238290" y="79971"/>
                  </a:lnTo>
                  <a:lnTo>
                    <a:pt x="244195" y="77851"/>
                  </a:lnTo>
                  <a:lnTo>
                    <a:pt x="247230" y="71348"/>
                  </a:lnTo>
                  <a:close/>
                </a:path>
                <a:path w="659130" h="661669">
                  <a:moveTo>
                    <a:pt x="340779" y="602526"/>
                  </a:moveTo>
                  <a:lnTo>
                    <a:pt x="335699" y="597433"/>
                  </a:lnTo>
                  <a:lnTo>
                    <a:pt x="329438" y="597433"/>
                  </a:lnTo>
                  <a:lnTo>
                    <a:pt x="323189" y="597433"/>
                  </a:lnTo>
                  <a:lnTo>
                    <a:pt x="318109" y="602526"/>
                  </a:lnTo>
                  <a:lnTo>
                    <a:pt x="318109" y="615061"/>
                  </a:lnTo>
                  <a:lnTo>
                    <a:pt x="323189" y="620128"/>
                  </a:lnTo>
                  <a:lnTo>
                    <a:pt x="335699" y="620128"/>
                  </a:lnTo>
                  <a:lnTo>
                    <a:pt x="340779" y="615061"/>
                  </a:lnTo>
                  <a:lnTo>
                    <a:pt x="340779" y="602526"/>
                  </a:lnTo>
                  <a:close/>
                </a:path>
                <a:path w="659130" h="661669">
                  <a:moveTo>
                    <a:pt x="340779" y="46469"/>
                  </a:moveTo>
                  <a:lnTo>
                    <a:pt x="335699" y="41389"/>
                  </a:lnTo>
                  <a:lnTo>
                    <a:pt x="323189" y="41389"/>
                  </a:lnTo>
                  <a:lnTo>
                    <a:pt x="318109" y="46469"/>
                  </a:lnTo>
                  <a:lnTo>
                    <a:pt x="318109" y="59016"/>
                  </a:lnTo>
                  <a:lnTo>
                    <a:pt x="323189" y="64084"/>
                  </a:lnTo>
                  <a:lnTo>
                    <a:pt x="335699" y="64084"/>
                  </a:lnTo>
                  <a:lnTo>
                    <a:pt x="340779" y="59016"/>
                  </a:lnTo>
                  <a:lnTo>
                    <a:pt x="340779" y="52730"/>
                  </a:lnTo>
                  <a:lnTo>
                    <a:pt x="340779" y="46469"/>
                  </a:lnTo>
                  <a:close/>
                </a:path>
                <a:path w="659130" h="661669">
                  <a:moveTo>
                    <a:pt x="437235" y="594258"/>
                  </a:moveTo>
                  <a:lnTo>
                    <a:pt x="435102" y="588378"/>
                  </a:lnTo>
                  <a:lnTo>
                    <a:pt x="433209" y="582587"/>
                  </a:lnTo>
                  <a:lnTo>
                    <a:pt x="427012" y="579437"/>
                  </a:lnTo>
                  <a:lnTo>
                    <a:pt x="420585" y="581545"/>
                  </a:lnTo>
                  <a:lnTo>
                    <a:pt x="414693" y="583692"/>
                  </a:lnTo>
                  <a:lnTo>
                    <a:pt x="411645" y="590194"/>
                  </a:lnTo>
                  <a:lnTo>
                    <a:pt x="415899" y="601980"/>
                  </a:lnTo>
                  <a:lnTo>
                    <a:pt x="422402" y="605028"/>
                  </a:lnTo>
                  <a:lnTo>
                    <a:pt x="434174" y="600760"/>
                  </a:lnTo>
                  <a:lnTo>
                    <a:pt x="437235" y="594258"/>
                  </a:lnTo>
                  <a:close/>
                </a:path>
                <a:path w="659130" h="661669">
                  <a:moveTo>
                    <a:pt x="437235" y="67500"/>
                  </a:moveTo>
                  <a:lnTo>
                    <a:pt x="434174" y="60998"/>
                  </a:lnTo>
                  <a:lnTo>
                    <a:pt x="422414" y="56730"/>
                  </a:lnTo>
                  <a:lnTo>
                    <a:pt x="415925" y="59766"/>
                  </a:lnTo>
                  <a:lnTo>
                    <a:pt x="411645" y="71577"/>
                  </a:lnTo>
                  <a:lnTo>
                    <a:pt x="414693" y="78079"/>
                  </a:lnTo>
                  <a:lnTo>
                    <a:pt x="426466" y="82334"/>
                  </a:lnTo>
                  <a:lnTo>
                    <a:pt x="432968" y="79286"/>
                  </a:lnTo>
                  <a:lnTo>
                    <a:pt x="437235" y="67500"/>
                  </a:lnTo>
                  <a:close/>
                </a:path>
                <a:path w="659130" h="661669">
                  <a:moveTo>
                    <a:pt x="520573" y="120345"/>
                  </a:moveTo>
                  <a:lnTo>
                    <a:pt x="520014" y="113182"/>
                  </a:lnTo>
                  <a:lnTo>
                    <a:pt x="515137" y="109016"/>
                  </a:lnTo>
                  <a:lnTo>
                    <a:pt x="510374" y="105054"/>
                  </a:lnTo>
                  <a:lnTo>
                    <a:pt x="503288" y="105651"/>
                  </a:lnTo>
                  <a:lnTo>
                    <a:pt x="499262" y="110388"/>
                  </a:lnTo>
                  <a:lnTo>
                    <a:pt x="495198" y="115150"/>
                  </a:lnTo>
                  <a:lnTo>
                    <a:pt x="495769" y="122313"/>
                  </a:lnTo>
                  <a:lnTo>
                    <a:pt x="505294" y="130454"/>
                  </a:lnTo>
                  <a:lnTo>
                    <a:pt x="512457" y="129882"/>
                  </a:lnTo>
                  <a:lnTo>
                    <a:pt x="520573" y="120345"/>
                  </a:lnTo>
                  <a:close/>
                </a:path>
                <a:path w="659130" h="661669">
                  <a:moveTo>
                    <a:pt x="520827" y="541324"/>
                  </a:moveTo>
                  <a:lnTo>
                    <a:pt x="516724" y="536384"/>
                  </a:lnTo>
                  <a:lnTo>
                    <a:pt x="512699" y="531660"/>
                  </a:lnTo>
                  <a:lnTo>
                    <a:pt x="505625" y="531050"/>
                  </a:lnTo>
                  <a:lnTo>
                    <a:pt x="500849" y="535025"/>
                  </a:lnTo>
                  <a:lnTo>
                    <a:pt x="496036" y="539038"/>
                  </a:lnTo>
                  <a:lnTo>
                    <a:pt x="495376" y="546188"/>
                  </a:lnTo>
                  <a:lnTo>
                    <a:pt x="503377" y="555828"/>
                  </a:lnTo>
                  <a:lnTo>
                    <a:pt x="510527" y="556488"/>
                  </a:lnTo>
                  <a:lnTo>
                    <a:pt x="520166" y="548474"/>
                  </a:lnTo>
                  <a:lnTo>
                    <a:pt x="520827" y="541324"/>
                  </a:lnTo>
                  <a:close/>
                </a:path>
                <a:path w="659130" h="661669">
                  <a:moveTo>
                    <a:pt x="582904" y="470014"/>
                  </a:moveTo>
                  <a:lnTo>
                    <a:pt x="581152" y="463156"/>
                  </a:lnTo>
                  <a:lnTo>
                    <a:pt x="575678" y="459905"/>
                  </a:lnTo>
                  <a:lnTo>
                    <a:pt x="570268" y="456717"/>
                  </a:lnTo>
                  <a:lnTo>
                    <a:pt x="563333" y="458520"/>
                  </a:lnTo>
                  <a:lnTo>
                    <a:pt x="556983" y="469341"/>
                  </a:lnTo>
                  <a:lnTo>
                    <a:pt x="558774" y="476275"/>
                  </a:lnTo>
                  <a:lnTo>
                    <a:pt x="569569" y="482638"/>
                  </a:lnTo>
                  <a:lnTo>
                    <a:pt x="576516" y="480834"/>
                  </a:lnTo>
                  <a:lnTo>
                    <a:pt x="582904" y="470014"/>
                  </a:lnTo>
                  <a:close/>
                </a:path>
                <a:path w="659130" h="661669">
                  <a:moveTo>
                    <a:pt x="582930" y="191503"/>
                  </a:moveTo>
                  <a:lnTo>
                    <a:pt x="579755" y="185966"/>
                  </a:lnTo>
                  <a:lnTo>
                    <a:pt x="576592" y="180606"/>
                  </a:lnTo>
                  <a:lnTo>
                    <a:pt x="569722" y="178777"/>
                  </a:lnTo>
                  <a:lnTo>
                    <a:pt x="564337" y="181876"/>
                  </a:lnTo>
                  <a:lnTo>
                    <a:pt x="558914" y="185000"/>
                  </a:lnTo>
                  <a:lnTo>
                    <a:pt x="557047" y="191935"/>
                  </a:lnTo>
                  <a:lnTo>
                    <a:pt x="563283" y="202806"/>
                  </a:lnTo>
                  <a:lnTo>
                    <a:pt x="570217" y="204685"/>
                  </a:lnTo>
                  <a:lnTo>
                    <a:pt x="581063" y="198437"/>
                  </a:lnTo>
                  <a:lnTo>
                    <a:pt x="582930" y="191503"/>
                  </a:lnTo>
                  <a:close/>
                </a:path>
                <a:path w="659130" h="661669">
                  <a:moveTo>
                    <a:pt x="614438" y="276136"/>
                  </a:moveTo>
                  <a:lnTo>
                    <a:pt x="609358" y="271056"/>
                  </a:lnTo>
                  <a:lnTo>
                    <a:pt x="596849" y="271056"/>
                  </a:lnTo>
                  <a:lnTo>
                    <a:pt x="591769" y="276136"/>
                  </a:lnTo>
                  <a:lnTo>
                    <a:pt x="591769" y="288658"/>
                  </a:lnTo>
                  <a:lnTo>
                    <a:pt x="596849" y="293751"/>
                  </a:lnTo>
                  <a:lnTo>
                    <a:pt x="609358" y="293751"/>
                  </a:lnTo>
                  <a:lnTo>
                    <a:pt x="614438" y="288658"/>
                  </a:lnTo>
                  <a:lnTo>
                    <a:pt x="614438" y="282397"/>
                  </a:lnTo>
                  <a:lnTo>
                    <a:pt x="614438" y="276136"/>
                  </a:lnTo>
                  <a:close/>
                </a:path>
                <a:path w="659130" h="661669">
                  <a:moveTo>
                    <a:pt x="615353" y="375437"/>
                  </a:moveTo>
                  <a:lnTo>
                    <a:pt x="611644" y="369493"/>
                  </a:lnTo>
                  <a:lnTo>
                    <a:pt x="604926" y="367982"/>
                  </a:lnTo>
                  <a:lnTo>
                    <a:pt x="598766" y="366852"/>
                  </a:lnTo>
                  <a:lnTo>
                    <a:pt x="592848" y="370928"/>
                  </a:lnTo>
                  <a:lnTo>
                    <a:pt x="590600" y="383260"/>
                  </a:lnTo>
                  <a:lnTo>
                    <a:pt x="594677" y="389178"/>
                  </a:lnTo>
                  <a:lnTo>
                    <a:pt x="606920" y="391439"/>
                  </a:lnTo>
                  <a:lnTo>
                    <a:pt x="612775" y="387438"/>
                  </a:lnTo>
                  <a:lnTo>
                    <a:pt x="613994" y="381368"/>
                  </a:lnTo>
                  <a:lnTo>
                    <a:pt x="615353" y="375437"/>
                  </a:lnTo>
                  <a:close/>
                </a:path>
                <a:path w="659130" h="661669">
                  <a:moveTo>
                    <a:pt x="658660" y="365760"/>
                  </a:moveTo>
                  <a:lnTo>
                    <a:pt x="633945" y="367030"/>
                  </a:lnTo>
                  <a:lnTo>
                    <a:pt x="624649" y="331470"/>
                  </a:lnTo>
                  <a:lnTo>
                    <a:pt x="633717" y="295910"/>
                  </a:lnTo>
                  <a:lnTo>
                    <a:pt x="658431" y="297180"/>
                  </a:lnTo>
                  <a:lnTo>
                    <a:pt x="658279" y="295910"/>
                  </a:lnTo>
                  <a:lnTo>
                    <a:pt x="656615" y="281940"/>
                  </a:lnTo>
                  <a:lnTo>
                    <a:pt x="655256" y="274320"/>
                  </a:lnTo>
                  <a:lnTo>
                    <a:pt x="653897" y="265430"/>
                  </a:lnTo>
                  <a:lnTo>
                    <a:pt x="652830" y="260350"/>
                  </a:lnTo>
                  <a:lnTo>
                    <a:pt x="652310" y="257810"/>
                  </a:lnTo>
                  <a:lnTo>
                    <a:pt x="650265" y="250190"/>
                  </a:lnTo>
                  <a:lnTo>
                    <a:pt x="627595" y="260350"/>
                  </a:lnTo>
                  <a:lnTo>
                    <a:pt x="623963" y="254990"/>
                  </a:lnTo>
                  <a:lnTo>
                    <a:pt x="623963" y="331470"/>
                  </a:lnTo>
                  <a:lnTo>
                    <a:pt x="619658" y="382270"/>
                  </a:lnTo>
                  <a:lnTo>
                    <a:pt x="610476" y="420370"/>
                  </a:lnTo>
                  <a:lnTo>
                    <a:pt x="596404" y="455930"/>
                  </a:lnTo>
                  <a:lnTo>
                    <a:pt x="577837" y="490220"/>
                  </a:lnTo>
                  <a:lnTo>
                    <a:pt x="546582" y="530860"/>
                  </a:lnTo>
                  <a:lnTo>
                    <a:pt x="518756" y="557530"/>
                  </a:lnTo>
                  <a:lnTo>
                    <a:pt x="487591" y="580390"/>
                  </a:lnTo>
                  <a:lnTo>
                    <a:pt x="453834" y="598170"/>
                  </a:lnTo>
                  <a:lnTo>
                    <a:pt x="393065" y="619760"/>
                  </a:lnTo>
                  <a:lnTo>
                    <a:pt x="355028" y="624840"/>
                  </a:lnTo>
                  <a:lnTo>
                    <a:pt x="329438" y="626110"/>
                  </a:lnTo>
                  <a:lnTo>
                    <a:pt x="303860" y="624840"/>
                  </a:lnTo>
                  <a:lnTo>
                    <a:pt x="265811" y="619760"/>
                  </a:lnTo>
                  <a:lnTo>
                    <a:pt x="228777" y="608330"/>
                  </a:lnTo>
                  <a:lnTo>
                    <a:pt x="193535" y="593090"/>
                  </a:lnTo>
                  <a:lnTo>
                    <a:pt x="160680" y="572770"/>
                  </a:lnTo>
                  <a:lnTo>
                    <a:pt x="121424" y="539750"/>
                  </a:lnTo>
                  <a:lnTo>
                    <a:pt x="88468" y="500380"/>
                  </a:lnTo>
                  <a:lnTo>
                    <a:pt x="68402" y="467360"/>
                  </a:lnTo>
                  <a:lnTo>
                    <a:pt x="48907" y="420370"/>
                  </a:lnTo>
                  <a:lnTo>
                    <a:pt x="37680" y="367030"/>
                  </a:lnTo>
                  <a:lnTo>
                    <a:pt x="36449" y="356870"/>
                  </a:lnTo>
                  <a:lnTo>
                    <a:pt x="35369" y="331470"/>
                  </a:lnTo>
                  <a:lnTo>
                    <a:pt x="36449" y="306070"/>
                  </a:lnTo>
                  <a:lnTo>
                    <a:pt x="37744" y="295910"/>
                  </a:lnTo>
                  <a:lnTo>
                    <a:pt x="39674" y="280670"/>
                  </a:lnTo>
                  <a:lnTo>
                    <a:pt x="42138" y="267970"/>
                  </a:lnTo>
                  <a:lnTo>
                    <a:pt x="43967" y="260350"/>
                  </a:lnTo>
                  <a:lnTo>
                    <a:pt x="45186" y="255270"/>
                  </a:lnTo>
                  <a:lnTo>
                    <a:pt x="57734" y="218440"/>
                  </a:lnTo>
                  <a:lnTo>
                    <a:pt x="74599" y="184150"/>
                  </a:lnTo>
                  <a:lnTo>
                    <a:pt x="96100" y="152400"/>
                  </a:lnTo>
                  <a:lnTo>
                    <a:pt x="121399" y="123190"/>
                  </a:lnTo>
                  <a:lnTo>
                    <a:pt x="150393" y="97790"/>
                  </a:lnTo>
                  <a:lnTo>
                    <a:pt x="167932" y="85090"/>
                  </a:lnTo>
                  <a:lnTo>
                    <a:pt x="171500" y="82550"/>
                  </a:lnTo>
                  <a:lnTo>
                    <a:pt x="182524" y="76200"/>
                  </a:lnTo>
                  <a:lnTo>
                    <a:pt x="193763" y="69850"/>
                  </a:lnTo>
                  <a:lnTo>
                    <a:pt x="205282" y="64770"/>
                  </a:lnTo>
                  <a:lnTo>
                    <a:pt x="217030" y="58420"/>
                  </a:lnTo>
                  <a:lnTo>
                    <a:pt x="266039" y="43180"/>
                  </a:lnTo>
                  <a:lnTo>
                    <a:pt x="278650" y="40640"/>
                  </a:lnTo>
                  <a:lnTo>
                    <a:pt x="304025" y="38100"/>
                  </a:lnTo>
                  <a:lnTo>
                    <a:pt x="329552" y="36830"/>
                  </a:lnTo>
                  <a:lnTo>
                    <a:pt x="355079" y="38100"/>
                  </a:lnTo>
                  <a:lnTo>
                    <a:pt x="380453" y="40640"/>
                  </a:lnTo>
                  <a:lnTo>
                    <a:pt x="393128" y="43180"/>
                  </a:lnTo>
                  <a:lnTo>
                    <a:pt x="442290" y="58420"/>
                  </a:lnTo>
                  <a:lnTo>
                    <a:pt x="454037" y="64770"/>
                  </a:lnTo>
                  <a:lnTo>
                    <a:pt x="465556" y="69850"/>
                  </a:lnTo>
                  <a:lnTo>
                    <a:pt x="498589" y="90170"/>
                  </a:lnTo>
                  <a:lnTo>
                    <a:pt x="528624" y="114300"/>
                  </a:lnTo>
                  <a:lnTo>
                    <a:pt x="555269" y="142240"/>
                  </a:lnTo>
                  <a:lnTo>
                    <a:pt x="584746" y="184150"/>
                  </a:lnTo>
                  <a:lnTo>
                    <a:pt x="601713" y="218440"/>
                  </a:lnTo>
                  <a:lnTo>
                    <a:pt x="614019" y="255270"/>
                  </a:lnTo>
                  <a:lnTo>
                    <a:pt x="622884" y="306070"/>
                  </a:lnTo>
                  <a:lnTo>
                    <a:pt x="623963" y="331470"/>
                  </a:lnTo>
                  <a:lnTo>
                    <a:pt x="623963" y="254990"/>
                  </a:lnTo>
                  <a:lnTo>
                    <a:pt x="606958" y="229870"/>
                  </a:lnTo>
                  <a:lnTo>
                    <a:pt x="603338" y="194310"/>
                  </a:lnTo>
                  <a:lnTo>
                    <a:pt x="627138" y="186690"/>
                  </a:lnTo>
                  <a:lnTo>
                    <a:pt x="623735" y="180340"/>
                  </a:lnTo>
                  <a:lnTo>
                    <a:pt x="616026" y="165100"/>
                  </a:lnTo>
                  <a:lnTo>
                    <a:pt x="615797" y="165100"/>
                  </a:lnTo>
                  <a:lnTo>
                    <a:pt x="614172" y="162560"/>
                  </a:lnTo>
                  <a:lnTo>
                    <a:pt x="607644" y="152400"/>
                  </a:lnTo>
                  <a:lnTo>
                    <a:pt x="603110" y="144780"/>
                  </a:lnTo>
                  <a:lnTo>
                    <a:pt x="585190" y="162560"/>
                  </a:lnTo>
                  <a:lnTo>
                    <a:pt x="555498" y="140970"/>
                  </a:lnTo>
                  <a:lnTo>
                    <a:pt x="539851" y="107950"/>
                  </a:lnTo>
                  <a:lnTo>
                    <a:pt x="559803" y="92710"/>
                  </a:lnTo>
                  <a:lnTo>
                    <a:pt x="554126" y="87630"/>
                  </a:lnTo>
                  <a:lnTo>
                    <a:pt x="551180" y="85090"/>
                  </a:lnTo>
                  <a:lnTo>
                    <a:pt x="548233" y="82550"/>
                  </a:lnTo>
                  <a:lnTo>
                    <a:pt x="529869" y="67310"/>
                  </a:lnTo>
                  <a:lnTo>
                    <a:pt x="523290" y="62230"/>
                  </a:lnTo>
                  <a:lnTo>
                    <a:pt x="512191" y="85090"/>
                  </a:lnTo>
                  <a:lnTo>
                    <a:pt x="477050" y="74930"/>
                  </a:lnTo>
                  <a:lnTo>
                    <a:pt x="450964" y="49530"/>
                  </a:lnTo>
                  <a:lnTo>
                    <a:pt x="456920" y="40640"/>
                  </a:lnTo>
                  <a:lnTo>
                    <a:pt x="464578" y="29210"/>
                  </a:lnTo>
                  <a:lnTo>
                    <a:pt x="450062" y="22860"/>
                  </a:lnTo>
                  <a:lnTo>
                    <a:pt x="442582" y="20320"/>
                  </a:lnTo>
                  <a:lnTo>
                    <a:pt x="442353" y="20320"/>
                  </a:lnTo>
                  <a:lnTo>
                    <a:pt x="434873" y="16510"/>
                  </a:lnTo>
                  <a:lnTo>
                    <a:pt x="427393" y="13970"/>
                  </a:lnTo>
                  <a:lnTo>
                    <a:pt x="419684" y="12700"/>
                  </a:lnTo>
                  <a:lnTo>
                    <a:pt x="416953" y="36830"/>
                  </a:lnTo>
                  <a:lnTo>
                    <a:pt x="380682" y="40640"/>
                  </a:lnTo>
                  <a:lnTo>
                    <a:pt x="372402" y="36830"/>
                  </a:lnTo>
                  <a:lnTo>
                    <a:pt x="347586" y="25400"/>
                  </a:lnTo>
                  <a:lnTo>
                    <a:pt x="353250" y="1270"/>
                  </a:lnTo>
                  <a:lnTo>
                    <a:pt x="337375" y="0"/>
                  </a:lnTo>
                  <a:lnTo>
                    <a:pt x="313575" y="0"/>
                  </a:lnTo>
                  <a:lnTo>
                    <a:pt x="305638" y="1270"/>
                  </a:lnTo>
                  <a:lnTo>
                    <a:pt x="311302" y="25400"/>
                  </a:lnTo>
                  <a:lnTo>
                    <a:pt x="277977" y="40640"/>
                  </a:lnTo>
                  <a:lnTo>
                    <a:pt x="241693" y="38100"/>
                  </a:lnTo>
                  <a:lnTo>
                    <a:pt x="238975" y="12700"/>
                  </a:lnTo>
                  <a:lnTo>
                    <a:pt x="216306" y="20320"/>
                  </a:lnTo>
                  <a:lnTo>
                    <a:pt x="216077" y="20320"/>
                  </a:lnTo>
                  <a:lnTo>
                    <a:pt x="208597" y="22860"/>
                  </a:lnTo>
                  <a:lnTo>
                    <a:pt x="201333" y="25400"/>
                  </a:lnTo>
                  <a:lnTo>
                    <a:pt x="194081" y="29210"/>
                  </a:lnTo>
                  <a:lnTo>
                    <a:pt x="207683" y="49530"/>
                  </a:lnTo>
                  <a:lnTo>
                    <a:pt x="181838" y="74930"/>
                  </a:lnTo>
                  <a:lnTo>
                    <a:pt x="146697" y="85090"/>
                  </a:lnTo>
                  <a:lnTo>
                    <a:pt x="135585" y="63500"/>
                  </a:lnTo>
                  <a:lnTo>
                    <a:pt x="122885" y="72390"/>
                  </a:lnTo>
                  <a:lnTo>
                    <a:pt x="110642" y="82550"/>
                  </a:lnTo>
                  <a:lnTo>
                    <a:pt x="104749" y="87630"/>
                  </a:lnTo>
                  <a:lnTo>
                    <a:pt x="99085" y="93980"/>
                  </a:lnTo>
                  <a:lnTo>
                    <a:pt x="118808" y="107950"/>
                  </a:lnTo>
                  <a:lnTo>
                    <a:pt x="103162" y="140970"/>
                  </a:lnTo>
                  <a:lnTo>
                    <a:pt x="73469" y="162560"/>
                  </a:lnTo>
                  <a:lnTo>
                    <a:pt x="55549" y="144780"/>
                  </a:lnTo>
                  <a:lnTo>
                    <a:pt x="51015" y="152400"/>
                  </a:lnTo>
                  <a:lnTo>
                    <a:pt x="42849" y="165100"/>
                  </a:lnTo>
                  <a:lnTo>
                    <a:pt x="42633" y="165100"/>
                  </a:lnTo>
                  <a:lnTo>
                    <a:pt x="38773" y="172720"/>
                  </a:lnTo>
                  <a:lnTo>
                    <a:pt x="34925" y="179070"/>
                  </a:lnTo>
                  <a:lnTo>
                    <a:pt x="31521" y="186690"/>
                  </a:lnTo>
                  <a:lnTo>
                    <a:pt x="55321" y="194310"/>
                  </a:lnTo>
                  <a:lnTo>
                    <a:pt x="51701" y="229870"/>
                  </a:lnTo>
                  <a:lnTo>
                    <a:pt x="31064" y="260350"/>
                  </a:lnTo>
                  <a:lnTo>
                    <a:pt x="8394" y="250190"/>
                  </a:lnTo>
                  <a:lnTo>
                    <a:pt x="4762" y="265430"/>
                  </a:lnTo>
                  <a:lnTo>
                    <a:pt x="3403" y="274320"/>
                  </a:lnTo>
                  <a:lnTo>
                    <a:pt x="3175" y="274320"/>
                  </a:lnTo>
                  <a:lnTo>
                    <a:pt x="1816" y="281940"/>
                  </a:lnTo>
                  <a:lnTo>
                    <a:pt x="685" y="289560"/>
                  </a:lnTo>
                  <a:lnTo>
                    <a:pt x="0" y="297180"/>
                  </a:lnTo>
                  <a:lnTo>
                    <a:pt x="24714" y="295910"/>
                  </a:lnTo>
                  <a:lnTo>
                    <a:pt x="33782" y="331470"/>
                  </a:lnTo>
                  <a:lnTo>
                    <a:pt x="24714" y="367030"/>
                  </a:lnTo>
                  <a:lnTo>
                    <a:pt x="0" y="365760"/>
                  </a:lnTo>
                  <a:lnTo>
                    <a:pt x="1816" y="381000"/>
                  </a:lnTo>
                  <a:lnTo>
                    <a:pt x="3175" y="388620"/>
                  </a:lnTo>
                  <a:lnTo>
                    <a:pt x="3403" y="388620"/>
                  </a:lnTo>
                  <a:lnTo>
                    <a:pt x="4762" y="396240"/>
                  </a:lnTo>
                  <a:lnTo>
                    <a:pt x="6350" y="403860"/>
                  </a:lnTo>
                  <a:lnTo>
                    <a:pt x="8394" y="411480"/>
                  </a:lnTo>
                  <a:lnTo>
                    <a:pt x="31064" y="402590"/>
                  </a:lnTo>
                  <a:lnTo>
                    <a:pt x="51701" y="431800"/>
                  </a:lnTo>
                  <a:lnTo>
                    <a:pt x="55321" y="468630"/>
                  </a:lnTo>
                  <a:lnTo>
                    <a:pt x="31521" y="476250"/>
                  </a:lnTo>
                  <a:lnTo>
                    <a:pt x="34925" y="482600"/>
                  </a:lnTo>
                  <a:lnTo>
                    <a:pt x="42633" y="496570"/>
                  </a:lnTo>
                  <a:lnTo>
                    <a:pt x="42849" y="496570"/>
                  </a:lnTo>
                  <a:lnTo>
                    <a:pt x="46710" y="504190"/>
                  </a:lnTo>
                  <a:lnTo>
                    <a:pt x="51015" y="510540"/>
                  </a:lnTo>
                  <a:lnTo>
                    <a:pt x="55549" y="516890"/>
                  </a:lnTo>
                  <a:lnTo>
                    <a:pt x="73469" y="500380"/>
                  </a:lnTo>
                  <a:lnTo>
                    <a:pt x="103162" y="521970"/>
                  </a:lnTo>
                  <a:lnTo>
                    <a:pt x="118808" y="553720"/>
                  </a:lnTo>
                  <a:lnTo>
                    <a:pt x="98856" y="568960"/>
                  </a:lnTo>
                  <a:lnTo>
                    <a:pt x="104521" y="574040"/>
                  </a:lnTo>
                  <a:lnTo>
                    <a:pt x="110426" y="580390"/>
                  </a:lnTo>
                  <a:lnTo>
                    <a:pt x="122669" y="590550"/>
                  </a:lnTo>
                  <a:lnTo>
                    <a:pt x="128790" y="594360"/>
                  </a:lnTo>
                  <a:lnTo>
                    <a:pt x="135356" y="599440"/>
                  </a:lnTo>
                  <a:lnTo>
                    <a:pt x="146469" y="577850"/>
                  </a:lnTo>
                  <a:lnTo>
                    <a:pt x="181610" y="586740"/>
                  </a:lnTo>
                  <a:lnTo>
                    <a:pt x="207683" y="613410"/>
                  </a:lnTo>
                  <a:lnTo>
                    <a:pt x="194081" y="633730"/>
                  </a:lnTo>
                  <a:lnTo>
                    <a:pt x="201333" y="636270"/>
                  </a:lnTo>
                  <a:lnTo>
                    <a:pt x="208597" y="640080"/>
                  </a:lnTo>
                  <a:lnTo>
                    <a:pt x="216077" y="642620"/>
                  </a:lnTo>
                  <a:lnTo>
                    <a:pt x="216306" y="642620"/>
                  </a:lnTo>
                  <a:lnTo>
                    <a:pt x="238975" y="650240"/>
                  </a:lnTo>
                  <a:lnTo>
                    <a:pt x="241693" y="624840"/>
                  </a:lnTo>
                  <a:lnTo>
                    <a:pt x="277977" y="622300"/>
                  </a:lnTo>
                  <a:lnTo>
                    <a:pt x="311302" y="637540"/>
                  </a:lnTo>
                  <a:lnTo>
                    <a:pt x="305638" y="661670"/>
                  </a:lnTo>
                  <a:lnTo>
                    <a:pt x="353250" y="661670"/>
                  </a:lnTo>
                  <a:lnTo>
                    <a:pt x="347586" y="637540"/>
                  </a:lnTo>
                  <a:lnTo>
                    <a:pt x="372579" y="626110"/>
                  </a:lnTo>
                  <a:lnTo>
                    <a:pt x="380911" y="622300"/>
                  </a:lnTo>
                  <a:lnTo>
                    <a:pt x="417182" y="624840"/>
                  </a:lnTo>
                  <a:lnTo>
                    <a:pt x="419912" y="650240"/>
                  </a:lnTo>
                  <a:lnTo>
                    <a:pt x="442582" y="642620"/>
                  </a:lnTo>
                  <a:lnTo>
                    <a:pt x="442810" y="642620"/>
                  </a:lnTo>
                  <a:lnTo>
                    <a:pt x="450291" y="640080"/>
                  </a:lnTo>
                  <a:lnTo>
                    <a:pt x="457542" y="636270"/>
                  </a:lnTo>
                  <a:lnTo>
                    <a:pt x="464794" y="633730"/>
                  </a:lnTo>
                  <a:lnTo>
                    <a:pt x="457149" y="622300"/>
                  </a:lnTo>
                  <a:lnTo>
                    <a:pt x="451192" y="613410"/>
                  </a:lnTo>
                  <a:lnTo>
                    <a:pt x="477266" y="586740"/>
                  </a:lnTo>
                  <a:lnTo>
                    <a:pt x="512419" y="577850"/>
                  </a:lnTo>
                  <a:lnTo>
                    <a:pt x="523519" y="599440"/>
                  </a:lnTo>
                  <a:lnTo>
                    <a:pt x="536219" y="590550"/>
                  </a:lnTo>
                  <a:lnTo>
                    <a:pt x="548462" y="579120"/>
                  </a:lnTo>
                  <a:lnTo>
                    <a:pt x="549935" y="577850"/>
                  </a:lnTo>
                  <a:lnTo>
                    <a:pt x="554355" y="574040"/>
                  </a:lnTo>
                  <a:lnTo>
                    <a:pt x="560031" y="568960"/>
                  </a:lnTo>
                  <a:lnTo>
                    <a:pt x="540080" y="553720"/>
                  </a:lnTo>
                  <a:lnTo>
                    <a:pt x="555713" y="521970"/>
                  </a:lnTo>
                  <a:lnTo>
                    <a:pt x="585419" y="500380"/>
                  </a:lnTo>
                  <a:lnTo>
                    <a:pt x="603338" y="516890"/>
                  </a:lnTo>
                  <a:lnTo>
                    <a:pt x="607872" y="510540"/>
                  </a:lnTo>
                  <a:lnTo>
                    <a:pt x="611949" y="504190"/>
                  </a:lnTo>
                  <a:lnTo>
                    <a:pt x="613994" y="500380"/>
                  </a:lnTo>
                  <a:lnTo>
                    <a:pt x="616026" y="496570"/>
                  </a:lnTo>
                  <a:lnTo>
                    <a:pt x="616254" y="496570"/>
                  </a:lnTo>
                  <a:lnTo>
                    <a:pt x="620115" y="490220"/>
                  </a:lnTo>
                  <a:lnTo>
                    <a:pt x="623963" y="482600"/>
                  </a:lnTo>
                  <a:lnTo>
                    <a:pt x="627367" y="476250"/>
                  </a:lnTo>
                  <a:lnTo>
                    <a:pt x="603554" y="468630"/>
                  </a:lnTo>
                  <a:lnTo>
                    <a:pt x="607187" y="431800"/>
                  </a:lnTo>
                  <a:lnTo>
                    <a:pt x="627824" y="402590"/>
                  </a:lnTo>
                  <a:lnTo>
                    <a:pt x="650494" y="412750"/>
                  </a:lnTo>
                  <a:lnTo>
                    <a:pt x="652538" y="403860"/>
                  </a:lnTo>
                  <a:lnTo>
                    <a:pt x="652792" y="402590"/>
                  </a:lnTo>
                  <a:lnTo>
                    <a:pt x="654126" y="396240"/>
                  </a:lnTo>
                  <a:lnTo>
                    <a:pt x="656844" y="381000"/>
                  </a:lnTo>
                  <a:lnTo>
                    <a:pt x="657974" y="373380"/>
                  </a:lnTo>
                  <a:lnTo>
                    <a:pt x="658545" y="367030"/>
                  </a:lnTo>
                  <a:lnTo>
                    <a:pt x="658660" y="365760"/>
                  </a:lnTo>
                  <a:close/>
                </a:path>
              </a:pathLst>
            </a:custGeom>
            <a:solidFill>
              <a:srgbClr val="E1907C"/>
            </a:solidFill>
          </p:spPr>
          <p:txBody>
            <a:bodyPr wrap="square" lIns="0" tIns="0" rIns="0" bIns="0" rtlCol="0"/>
            <a:lstStyle/>
            <a:p>
              <a:endParaRPr lang="en-US" noProof="0" dirty="0"/>
            </a:p>
          </p:txBody>
        </p:sp>
        <p:sp>
          <p:nvSpPr>
            <p:cNvPr id="22" name="object 22"/>
            <p:cNvSpPr/>
            <p:nvPr/>
          </p:nvSpPr>
          <p:spPr>
            <a:xfrm>
              <a:off x="963549" y="2590843"/>
              <a:ext cx="512445" cy="513080"/>
            </a:xfrm>
            <a:custGeom>
              <a:avLst/>
              <a:gdLst/>
              <a:ahLst/>
              <a:cxnLst/>
              <a:rect l="l" t="t" r="r" b="b"/>
              <a:pathLst>
                <a:path w="512444" h="513080">
                  <a:moveTo>
                    <a:pt x="255978" y="0"/>
                  </a:moveTo>
                  <a:lnTo>
                    <a:pt x="209967" y="4128"/>
                  </a:lnTo>
                  <a:lnTo>
                    <a:pt x="166661" y="16031"/>
                  </a:lnTo>
                  <a:lnTo>
                    <a:pt x="126783" y="34985"/>
                  </a:lnTo>
                  <a:lnTo>
                    <a:pt x="91056" y="60265"/>
                  </a:lnTo>
                  <a:lnTo>
                    <a:pt x="60204" y="91149"/>
                  </a:lnTo>
                  <a:lnTo>
                    <a:pt x="34949" y="126912"/>
                  </a:lnTo>
                  <a:lnTo>
                    <a:pt x="16015" y="166830"/>
                  </a:lnTo>
                  <a:lnTo>
                    <a:pt x="4124" y="210180"/>
                  </a:lnTo>
                  <a:lnTo>
                    <a:pt x="0" y="256237"/>
                  </a:lnTo>
                  <a:lnTo>
                    <a:pt x="4124" y="302299"/>
                  </a:lnTo>
                  <a:lnTo>
                    <a:pt x="16015" y="345651"/>
                  </a:lnTo>
                  <a:lnTo>
                    <a:pt x="34949" y="385570"/>
                  </a:lnTo>
                  <a:lnTo>
                    <a:pt x="60204" y="421333"/>
                  </a:lnTo>
                  <a:lnTo>
                    <a:pt x="91056" y="452215"/>
                  </a:lnTo>
                  <a:lnTo>
                    <a:pt x="126783" y="477493"/>
                  </a:lnTo>
                  <a:lnTo>
                    <a:pt x="166661" y="496445"/>
                  </a:lnTo>
                  <a:lnTo>
                    <a:pt x="209967" y="508347"/>
                  </a:lnTo>
                  <a:lnTo>
                    <a:pt x="255978" y="512475"/>
                  </a:lnTo>
                  <a:lnTo>
                    <a:pt x="301989" y="508347"/>
                  </a:lnTo>
                  <a:lnTo>
                    <a:pt x="345295" y="496445"/>
                  </a:lnTo>
                  <a:lnTo>
                    <a:pt x="385173" y="477494"/>
                  </a:lnTo>
                  <a:lnTo>
                    <a:pt x="420899" y="452215"/>
                  </a:lnTo>
                  <a:lnTo>
                    <a:pt x="451752" y="421333"/>
                  </a:lnTo>
                  <a:lnTo>
                    <a:pt x="477007" y="385571"/>
                  </a:lnTo>
                  <a:lnTo>
                    <a:pt x="495942" y="345652"/>
                  </a:lnTo>
                  <a:lnTo>
                    <a:pt x="507833" y="302300"/>
                  </a:lnTo>
                  <a:lnTo>
                    <a:pt x="511957" y="256237"/>
                  </a:lnTo>
                  <a:lnTo>
                    <a:pt x="507833" y="210180"/>
                  </a:lnTo>
                  <a:lnTo>
                    <a:pt x="495942" y="166830"/>
                  </a:lnTo>
                  <a:lnTo>
                    <a:pt x="477007" y="126912"/>
                  </a:lnTo>
                  <a:lnTo>
                    <a:pt x="451752" y="91149"/>
                  </a:lnTo>
                  <a:lnTo>
                    <a:pt x="420899" y="60266"/>
                  </a:lnTo>
                  <a:lnTo>
                    <a:pt x="385173" y="34985"/>
                  </a:lnTo>
                  <a:lnTo>
                    <a:pt x="345295" y="16031"/>
                  </a:lnTo>
                  <a:lnTo>
                    <a:pt x="301989" y="4128"/>
                  </a:lnTo>
                  <a:lnTo>
                    <a:pt x="25597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lang="en-US" noProof="0" dirty="0"/>
            </a:p>
          </p:txBody>
        </p:sp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03091" y="2760363"/>
              <a:ext cx="253601" cy="173624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83730" y="2764467"/>
              <a:ext cx="152231" cy="165207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1207132" y="2955658"/>
              <a:ext cx="25400" cy="113030"/>
            </a:xfrm>
            <a:custGeom>
              <a:avLst/>
              <a:gdLst/>
              <a:ahLst/>
              <a:cxnLst/>
              <a:rect l="l" t="t" r="r" b="b"/>
              <a:pathLst>
                <a:path w="25400" h="113030">
                  <a:moveTo>
                    <a:pt x="24804" y="0"/>
                  </a:moveTo>
                  <a:lnTo>
                    <a:pt x="0" y="0"/>
                  </a:lnTo>
                  <a:lnTo>
                    <a:pt x="0" y="112708"/>
                  </a:lnTo>
                  <a:lnTo>
                    <a:pt x="24804" y="112708"/>
                  </a:lnTo>
                  <a:lnTo>
                    <a:pt x="24804" y="0"/>
                  </a:lnTo>
                  <a:close/>
                </a:path>
              </a:pathLst>
            </a:custGeom>
            <a:solidFill>
              <a:srgbClr val="CF4627"/>
            </a:solidFill>
          </p:spPr>
          <p:txBody>
            <a:bodyPr wrap="square" lIns="0" tIns="0" rIns="0" bIns="0" rtlCol="0"/>
            <a:lstStyle/>
            <a:p>
              <a:endParaRPr lang="en-US" noProof="0" dirty="0"/>
            </a:p>
          </p:txBody>
        </p:sp>
      </p:grpSp>
      <p:grpSp>
        <p:nvGrpSpPr>
          <p:cNvPr id="26" name="object 26"/>
          <p:cNvGrpSpPr/>
          <p:nvPr/>
        </p:nvGrpSpPr>
        <p:grpSpPr>
          <a:xfrm>
            <a:off x="461010" y="6749158"/>
            <a:ext cx="559835" cy="1053746"/>
            <a:chOff x="885829" y="6661344"/>
            <a:chExt cx="662305" cy="1125220"/>
          </a:xfrm>
        </p:grpSpPr>
        <p:sp>
          <p:nvSpPr>
            <p:cNvPr id="27" name="object 27"/>
            <p:cNvSpPr/>
            <p:nvPr/>
          </p:nvSpPr>
          <p:spPr>
            <a:xfrm>
              <a:off x="1064642" y="7060049"/>
              <a:ext cx="304165" cy="726440"/>
            </a:xfrm>
            <a:custGeom>
              <a:avLst/>
              <a:gdLst/>
              <a:ahLst/>
              <a:cxnLst/>
              <a:rect l="l" t="t" r="r" b="b"/>
              <a:pathLst>
                <a:path w="304165" h="726440">
                  <a:moveTo>
                    <a:pt x="303639" y="0"/>
                  </a:moveTo>
                  <a:lnTo>
                    <a:pt x="0" y="0"/>
                  </a:lnTo>
                  <a:lnTo>
                    <a:pt x="0" y="726346"/>
                  </a:lnTo>
                  <a:lnTo>
                    <a:pt x="151832" y="574041"/>
                  </a:lnTo>
                  <a:lnTo>
                    <a:pt x="303639" y="726346"/>
                  </a:lnTo>
                  <a:lnTo>
                    <a:pt x="303639" y="0"/>
                  </a:lnTo>
                  <a:close/>
                </a:path>
              </a:pathLst>
            </a:custGeom>
            <a:solidFill>
              <a:srgbClr val="7EA23E"/>
            </a:solidFill>
          </p:spPr>
          <p:txBody>
            <a:bodyPr wrap="square" lIns="0" tIns="0" rIns="0" bIns="0" rtlCol="0"/>
            <a:lstStyle/>
            <a:p>
              <a:endParaRPr lang="en-US" noProof="0" dirty="0"/>
            </a:p>
          </p:txBody>
        </p:sp>
        <p:sp>
          <p:nvSpPr>
            <p:cNvPr id="28" name="object 28"/>
            <p:cNvSpPr/>
            <p:nvPr/>
          </p:nvSpPr>
          <p:spPr>
            <a:xfrm>
              <a:off x="1077980" y="7073409"/>
              <a:ext cx="277495" cy="681355"/>
            </a:xfrm>
            <a:custGeom>
              <a:avLst/>
              <a:gdLst/>
              <a:ahLst/>
              <a:cxnLst/>
              <a:rect l="l" t="t" r="r" b="b"/>
              <a:pathLst>
                <a:path w="277494" h="681354">
                  <a:moveTo>
                    <a:pt x="151287" y="541857"/>
                  </a:moveTo>
                  <a:lnTo>
                    <a:pt x="138493" y="541857"/>
                  </a:lnTo>
                  <a:lnTo>
                    <a:pt x="276950" y="680765"/>
                  </a:lnTo>
                  <a:lnTo>
                    <a:pt x="276950" y="658946"/>
                  </a:lnTo>
                  <a:lnTo>
                    <a:pt x="267962" y="658946"/>
                  </a:lnTo>
                  <a:lnTo>
                    <a:pt x="151287" y="541857"/>
                  </a:lnTo>
                  <a:close/>
                </a:path>
                <a:path w="277494" h="681354">
                  <a:moveTo>
                    <a:pt x="276950" y="0"/>
                  </a:moveTo>
                  <a:lnTo>
                    <a:pt x="0" y="0"/>
                  </a:lnTo>
                  <a:lnTo>
                    <a:pt x="0" y="680675"/>
                  </a:lnTo>
                  <a:lnTo>
                    <a:pt x="21678" y="658946"/>
                  </a:lnTo>
                  <a:lnTo>
                    <a:pt x="8988" y="658946"/>
                  </a:lnTo>
                  <a:lnTo>
                    <a:pt x="8988" y="9006"/>
                  </a:lnTo>
                  <a:lnTo>
                    <a:pt x="276950" y="9006"/>
                  </a:lnTo>
                  <a:lnTo>
                    <a:pt x="276950" y="0"/>
                  </a:lnTo>
                  <a:close/>
                </a:path>
                <a:path w="277494" h="681354">
                  <a:moveTo>
                    <a:pt x="138493" y="529019"/>
                  </a:moveTo>
                  <a:lnTo>
                    <a:pt x="8988" y="658946"/>
                  </a:lnTo>
                  <a:lnTo>
                    <a:pt x="21678" y="658946"/>
                  </a:lnTo>
                  <a:lnTo>
                    <a:pt x="138493" y="541857"/>
                  </a:lnTo>
                  <a:lnTo>
                    <a:pt x="151287" y="541857"/>
                  </a:lnTo>
                  <a:lnTo>
                    <a:pt x="138493" y="529019"/>
                  </a:lnTo>
                  <a:close/>
                </a:path>
                <a:path w="277494" h="681354">
                  <a:moveTo>
                    <a:pt x="276950" y="9006"/>
                  </a:moveTo>
                  <a:lnTo>
                    <a:pt x="267962" y="9006"/>
                  </a:lnTo>
                  <a:lnTo>
                    <a:pt x="267962" y="658946"/>
                  </a:lnTo>
                  <a:lnTo>
                    <a:pt x="276950" y="658946"/>
                  </a:lnTo>
                  <a:lnTo>
                    <a:pt x="276950" y="9006"/>
                  </a:lnTo>
                  <a:close/>
                </a:path>
              </a:pathLst>
            </a:custGeom>
            <a:solidFill>
              <a:srgbClr val="B1C78B"/>
            </a:solidFill>
          </p:spPr>
          <p:txBody>
            <a:bodyPr wrap="square" lIns="0" tIns="0" rIns="0" bIns="0" rtlCol="0"/>
            <a:lstStyle/>
            <a:p>
              <a:endParaRPr lang="en-US" noProof="0" dirty="0"/>
            </a:p>
          </p:txBody>
        </p:sp>
        <p:sp>
          <p:nvSpPr>
            <p:cNvPr id="29" name="object 29"/>
            <p:cNvSpPr/>
            <p:nvPr/>
          </p:nvSpPr>
          <p:spPr>
            <a:xfrm>
              <a:off x="885829" y="6661344"/>
              <a:ext cx="662305" cy="663575"/>
            </a:xfrm>
            <a:custGeom>
              <a:avLst/>
              <a:gdLst/>
              <a:ahLst/>
              <a:cxnLst/>
              <a:rect l="l" t="t" r="r" b="b"/>
              <a:pathLst>
                <a:path w="662305" h="663575">
                  <a:moveTo>
                    <a:pt x="353764" y="0"/>
                  </a:moveTo>
                  <a:lnTo>
                    <a:pt x="307527" y="0"/>
                  </a:lnTo>
                  <a:lnTo>
                    <a:pt x="261654" y="6431"/>
                  </a:lnTo>
                  <a:lnTo>
                    <a:pt x="216867" y="19293"/>
                  </a:lnTo>
                  <a:lnTo>
                    <a:pt x="173893" y="38587"/>
                  </a:lnTo>
                  <a:lnTo>
                    <a:pt x="133455" y="64313"/>
                  </a:lnTo>
                  <a:lnTo>
                    <a:pt x="96279" y="96469"/>
                  </a:lnTo>
                  <a:lnTo>
                    <a:pt x="64186" y="133718"/>
                  </a:lnTo>
                  <a:lnTo>
                    <a:pt x="38512" y="174238"/>
                  </a:lnTo>
                  <a:lnTo>
                    <a:pt x="19257" y="217300"/>
                  </a:lnTo>
                  <a:lnTo>
                    <a:pt x="6419" y="262179"/>
                  </a:lnTo>
                  <a:lnTo>
                    <a:pt x="0" y="308148"/>
                  </a:lnTo>
                  <a:lnTo>
                    <a:pt x="0" y="354481"/>
                  </a:lnTo>
                  <a:lnTo>
                    <a:pt x="6417" y="400452"/>
                  </a:lnTo>
                  <a:lnTo>
                    <a:pt x="19253" y="445333"/>
                  </a:lnTo>
                  <a:lnTo>
                    <a:pt x="38507" y="488398"/>
                  </a:lnTo>
                  <a:lnTo>
                    <a:pt x="64180" y="528921"/>
                  </a:lnTo>
                  <a:lnTo>
                    <a:pt x="96271" y="566175"/>
                  </a:lnTo>
                  <a:lnTo>
                    <a:pt x="136077" y="600206"/>
                  </a:lnTo>
                  <a:lnTo>
                    <a:pt x="180309" y="627319"/>
                  </a:lnTo>
                  <a:lnTo>
                    <a:pt x="228076" y="647144"/>
                  </a:lnTo>
                  <a:lnTo>
                    <a:pt x="278485" y="659310"/>
                  </a:lnTo>
                  <a:lnTo>
                    <a:pt x="330645" y="663448"/>
                  </a:lnTo>
                  <a:lnTo>
                    <a:pt x="379626" y="659847"/>
                  </a:lnTo>
                  <a:lnTo>
                    <a:pt x="426374" y="649387"/>
                  </a:lnTo>
                  <a:lnTo>
                    <a:pt x="470378" y="632582"/>
                  </a:lnTo>
                  <a:lnTo>
                    <a:pt x="511124" y="609944"/>
                  </a:lnTo>
                  <a:lnTo>
                    <a:pt x="548101" y="581989"/>
                  </a:lnTo>
                  <a:lnTo>
                    <a:pt x="580796" y="549228"/>
                  </a:lnTo>
                  <a:lnTo>
                    <a:pt x="608697" y="512178"/>
                  </a:lnTo>
                  <a:lnTo>
                    <a:pt x="631291" y="471350"/>
                  </a:lnTo>
                  <a:lnTo>
                    <a:pt x="648065" y="427258"/>
                  </a:lnTo>
                  <a:lnTo>
                    <a:pt x="658508" y="380418"/>
                  </a:lnTo>
                  <a:lnTo>
                    <a:pt x="662106" y="331341"/>
                  </a:lnTo>
                  <a:lnTo>
                    <a:pt x="657976" y="279065"/>
                  </a:lnTo>
                  <a:lnTo>
                    <a:pt x="645834" y="228549"/>
                  </a:lnTo>
                  <a:lnTo>
                    <a:pt x="626047" y="180684"/>
                  </a:lnTo>
                  <a:lnTo>
                    <a:pt x="598984" y="136361"/>
                  </a:lnTo>
                  <a:lnTo>
                    <a:pt x="565014" y="96469"/>
                  </a:lnTo>
                  <a:lnTo>
                    <a:pt x="527837" y="64313"/>
                  </a:lnTo>
                  <a:lnTo>
                    <a:pt x="487399" y="38587"/>
                  </a:lnTo>
                  <a:lnTo>
                    <a:pt x="444424" y="19293"/>
                  </a:lnTo>
                  <a:lnTo>
                    <a:pt x="399637" y="6431"/>
                  </a:lnTo>
                  <a:lnTo>
                    <a:pt x="353764" y="0"/>
                  </a:lnTo>
                  <a:close/>
                </a:path>
              </a:pathLst>
            </a:custGeom>
            <a:solidFill>
              <a:srgbClr val="7EA23E"/>
            </a:solidFill>
          </p:spPr>
          <p:txBody>
            <a:bodyPr wrap="square" lIns="0" tIns="0" rIns="0" bIns="0" rtlCol="0"/>
            <a:lstStyle/>
            <a:p>
              <a:endParaRPr lang="en-US" noProof="0" dirty="0"/>
            </a:p>
          </p:txBody>
        </p:sp>
        <p:sp>
          <p:nvSpPr>
            <p:cNvPr id="30" name="object 30"/>
            <p:cNvSpPr/>
            <p:nvPr/>
          </p:nvSpPr>
          <p:spPr>
            <a:xfrm>
              <a:off x="889977" y="6664375"/>
              <a:ext cx="652780" cy="656590"/>
            </a:xfrm>
            <a:custGeom>
              <a:avLst/>
              <a:gdLst/>
              <a:ahLst/>
              <a:cxnLst/>
              <a:rect l="l" t="t" r="r" b="b"/>
              <a:pathLst>
                <a:path w="652780" h="656590">
                  <a:moveTo>
                    <a:pt x="67373" y="276288"/>
                  </a:moveTo>
                  <a:lnTo>
                    <a:pt x="63360" y="270446"/>
                  </a:lnTo>
                  <a:lnTo>
                    <a:pt x="57289" y="269303"/>
                  </a:lnTo>
                  <a:lnTo>
                    <a:pt x="51193" y="268160"/>
                  </a:lnTo>
                  <a:lnTo>
                    <a:pt x="45326" y="272186"/>
                  </a:lnTo>
                  <a:lnTo>
                    <a:pt x="43040" y="284403"/>
                  </a:lnTo>
                  <a:lnTo>
                    <a:pt x="47053" y="290296"/>
                  </a:lnTo>
                  <a:lnTo>
                    <a:pt x="59258" y="292595"/>
                  </a:lnTo>
                  <a:lnTo>
                    <a:pt x="65125" y="288556"/>
                  </a:lnTo>
                  <a:lnTo>
                    <a:pt x="67373" y="276288"/>
                  </a:lnTo>
                  <a:close/>
                </a:path>
                <a:path w="652780" h="656590">
                  <a:moveTo>
                    <a:pt x="67614" y="380441"/>
                  </a:moveTo>
                  <a:lnTo>
                    <a:pt x="65366" y="368147"/>
                  </a:lnTo>
                  <a:lnTo>
                    <a:pt x="59550" y="364134"/>
                  </a:lnTo>
                  <a:lnTo>
                    <a:pt x="53479" y="365226"/>
                  </a:lnTo>
                  <a:lnTo>
                    <a:pt x="47371" y="366331"/>
                  </a:lnTo>
                  <a:lnTo>
                    <a:pt x="43307" y="372186"/>
                  </a:lnTo>
                  <a:lnTo>
                    <a:pt x="45504" y="384416"/>
                  </a:lnTo>
                  <a:lnTo>
                    <a:pt x="51346" y="388493"/>
                  </a:lnTo>
                  <a:lnTo>
                    <a:pt x="63563" y="386295"/>
                  </a:lnTo>
                  <a:lnTo>
                    <a:pt x="67614" y="380441"/>
                  </a:lnTo>
                  <a:close/>
                </a:path>
                <a:path w="652780" h="656590">
                  <a:moveTo>
                    <a:pt x="100888" y="465975"/>
                  </a:moveTo>
                  <a:lnTo>
                    <a:pt x="97739" y="460476"/>
                  </a:lnTo>
                  <a:lnTo>
                    <a:pt x="94526" y="455269"/>
                  </a:lnTo>
                  <a:lnTo>
                    <a:pt x="87820" y="453491"/>
                  </a:lnTo>
                  <a:lnTo>
                    <a:pt x="82461" y="456425"/>
                  </a:lnTo>
                  <a:lnTo>
                    <a:pt x="77076" y="459511"/>
                  </a:lnTo>
                  <a:lnTo>
                    <a:pt x="75222" y="466407"/>
                  </a:lnTo>
                  <a:lnTo>
                    <a:pt x="81407" y="477189"/>
                  </a:lnTo>
                  <a:lnTo>
                    <a:pt x="88277" y="479044"/>
                  </a:lnTo>
                  <a:lnTo>
                    <a:pt x="99034" y="472859"/>
                  </a:lnTo>
                  <a:lnTo>
                    <a:pt x="100888" y="465975"/>
                  </a:lnTo>
                  <a:close/>
                </a:path>
                <a:path w="652780" h="656590">
                  <a:moveTo>
                    <a:pt x="100990" y="190830"/>
                  </a:moveTo>
                  <a:lnTo>
                    <a:pt x="99199" y="183921"/>
                  </a:lnTo>
                  <a:lnTo>
                    <a:pt x="88506" y="177622"/>
                  </a:lnTo>
                  <a:lnTo>
                    <a:pt x="81622" y="179400"/>
                  </a:lnTo>
                  <a:lnTo>
                    <a:pt x="75298" y="190131"/>
                  </a:lnTo>
                  <a:lnTo>
                    <a:pt x="77025" y="196951"/>
                  </a:lnTo>
                  <a:lnTo>
                    <a:pt x="82461" y="200177"/>
                  </a:lnTo>
                  <a:lnTo>
                    <a:pt x="87807" y="203327"/>
                  </a:lnTo>
                  <a:lnTo>
                    <a:pt x="94691" y="201549"/>
                  </a:lnTo>
                  <a:lnTo>
                    <a:pt x="100990" y="190830"/>
                  </a:lnTo>
                  <a:close/>
                </a:path>
                <a:path w="652780" h="656590">
                  <a:moveTo>
                    <a:pt x="162013" y="542417"/>
                  </a:moveTo>
                  <a:lnTo>
                    <a:pt x="161442" y="535305"/>
                  </a:lnTo>
                  <a:lnTo>
                    <a:pt x="156616" y="531177"/>
                  </a:lnTo>
                  <a:lnTo>
                    <a:pt x="152107" y="527177"/>
                  </a:lnTo>
                  <a:lnTo>
                    <a:pt x="145224" y="527608"/>
                  </a:lnTo>
                  <a:lnTo>
                    <a:pt x="140881" y="532523"/>
                  </a:lnTo>
                  <a:lnTo>
                    <a:pt x="136855" y="537260"/>
                  </a:lnTo>
                  <a:lnTo>
                    <a:pt x="137414" y="544372"/>
                  </a:lnTo>
                  <a:lnTo>
                    <a:pt x="146862" y="552437"/>
                  </a:lnTo>
                  <a:lnTo>
                    <a:pt x="153949" y="551878"/>
                  </a:lnTo>
                  <a:lnTo>
                    <a:pt x="162013" y="542417"/>
                  </a:lnTo>
                  <a:close/>
                </a:path>
                <a:path w="652780" h="656590">
                  <a:moveTo>
                    <a:pt x="162026" y="114554"/>
                  </a:moveTo>
                  <a:lnTo>
                    <a:pt x="157962" y="109651"/>
                  </a:lnTo>
                  <a:lnTo>
                    <a:pt x="153974" y="104965"/>
                  </a:lnTo>
                  <a:lnTo>
                    <a:pt x="146964" y="104368"/>
                  </a:lnTo>
                  <a:lnTo>
                    <a:pt x="142227" y="108305"/>
                  </a:lnTo>
                  <a:lnTo>
                    <a:pt x="137464" y="112280"/>
                  </a:lnTo>
                  <a:lnTo>
                    <a:pt x="136804" y="119380"/>
                  </a:lnTo>
                  <a:lnTo>
                    <a:pt x="144741" y="128943"/>
                  </a:lnTo>
                  <a:lnTo>
                    <a:pt x="151828" y="129603"/>
                  </a:lnTo>
                  <a:lnTo>
                    <a:pt x="161366" y="121653"/>
                  </a:lnTo>
                  <a:lnTo>
                    <a:pt x="162026" y="114554"/>
                  </a:lnTo>
                  <a:close/>
                </a:path>
                <a:path w="652780" h="656590">
                  <a:moveTo>
                    <a:pt x="243484" y="581317"/>
                  </a:moveTo>
                  <a:lnTo>
                    <a:pt x="238467" y="576287"/>
                  </a:lnTo>
                  <a:lnTo>
                    <a:pt x="226047" y="576287"/>
                  </a:lnTo>
                  <a:lnTo>
                    <a:pt x="221005" y="581317"/>
                  </a:lnTo>
                  <a:lnTo>
                    <a:pt x="221005" y="593750"/>
                  </a:lnTo>
                  <a:lnTo>
                    <a:pt x="226047" y="598805"/>
                  </a:lnTo>
                  <a:lnTo>
                    <a:pt x="238467" y="598805"/>
                  </a:lnTo>
                  <a:lnTo>
                    <a:pt x="243484" y="593750"/>
                  </a:lnTo>
                  <a:lnTo>
                    <a:pt x="243484" y="587540"/>
                  </a:lnTo>
                  <a:lnTo>
                    <a:pt x="243484" y="581317"/>
                  </a:lnTo>
                  <a:close/>
                </a:path>
                <a:path w="652780" h="656590">
                  <a:moveTo>
                    <a:pt x="245021" y="70929"/>
                  </a:moveTo>
                  <a:lnTo>
                    <a:pt x="240804" y="59220"/>
                  </a:lnTo>
                  <a:lnTo>
                    <a:pt x="234365" y="56197"/>
                  </a:lnTo>
                  <a:lnTo>
                    <a:pt x="222694" y="60413"/>
                  </a:lnTo>
                  <a:lnTo>
                    <a:pt x="219659" y="66878"/>
                  </a:lnTo>
                  <a:lnTo>
                    <a:pt x="221780" y="72732"/>
                  </a:lnTo>
                  <a:lnTo>
                    <a:pt x="223723" y="78486"/>
                  </a:lnTo>
                  <a:lnTo>
                    <a:pt x="229946" y="81610"/>
                  </a:lnTo>
                  <a:lnTo>
                    <a:pt x="236156" y="79489"/>
                  </a:lnTo>
                  <a:lnTo>
                    <a:pt x="241998" y="77381"/>
                  </a:lnTo>
                  <a:lnTo>
                    <a:pt x="245021" y="70929"/>
                  </a:lnTo>
                  <a:close/>
                </a:path>
                <a:path w="652780" h="656590">
                  <a:moveTo>
                    <a:pt x="337731" y="597916"/>
                  </a:moveTo>
                  <a:lnTo>
                    <a:pt x="332689" y="592874"/>
                  </a:lnTo>
                  <a:lnTo>
                    <a:pt x="326491" y="592874"/>
                  </a:lnTo>
                  <a:lnTo>
                    <a:pt x="320294" y="592874"/>
                  </a:lnTo>
                  <a:lnTo>
                    <a:pt x="315252" y="597916"/>
                  </a:lnTo>
                  <a:lnTo>
                    <a:pt x="315252" y="610362"/>
                  </a:lnTo>
                  <a:lnTo>
                    <a:pt x="320294" y="615391"/>
                  </a:lnTo>
                  <a:lnTo>
                    <a:pt x="332689" y="615391"/>
                  </a:lnTo>
                  <a:lnTo>
                    <a:pt x="337731" y="610362"/>
                  </a:lnTo>
                  <a:lnTo>
                    <a:pt x="337731" y="597916"/>
                  </a:lnTo>
                  <a:close/>
                </a:path>
                <a:path w="652780" h="656590">
                  <a:moveTo>
                    <a:pt x="337731" y="46253"/>
                  </a:moveTo>
                  <a:lnTo>
                    <a:pt x="332689" y="41211"/>
                  </a:lnTo>
                  <a:lnTo>
                    <a:pt x="320294" y="41211"/>
                  </a:lnTo>
                  <a:lnTo>
                    <a:pt x="315252" y="46253"/>
                  </a:lnTo>
                  <a:lnTo>
                    <a:pt x="315252" y="58699"/>
                  </a:lnTo>
                  <a:lnTo>
                    <a:pt x="320294" y="63728"/>
                  </a:lnTo>
                  <a:lnTo>
                    <a:pt x="332689" y="63728"/>
                  </a:lnTo>
                  <a:lnTo>
                    <a:pt x="337731" y="58699"/>
                  </a:lnTo>
                  <a:lnTo>
                    <a:pt x="337731" y="52463"/>
                  </a:lnTo>
                  <a:lnTo>
                    <a:pt x="337731" y="46253"/>
                  </a:lnTo>
                  <a:close/>
                </a:path>
                <a:path w="652780" h="656590">
                  <a:moveTo>
                    <a:pt x="433324" y="589724"/>
                  </a:moveTo>
                  <a:lnTo>
                    <a:pt x="431203" y="583882"/>
                  </a:lnTo>
                  <a:lnTo>
                    <a:pt x="429336" y="578142"/>
                  </a:lnTo>
                  <a:lnTo>
                    <a:pt x="423189" y="575005"/>
                  </a:lnTo>
                  <a:lnTo>
                    <a:pt x="416826" y="577113"/>
                  </a:lnTo>
                  <a:lnTo>
                    <a:pt x="410984" y="579234"/>
                  </a:lnTo>
                  <a:lnTo>
                    <a:pt x="407962" y="585685"/>
                  </a:lnTo>
                  <a:lnTo>
                    <a:pt x="412178" y="597382"/>
                  </a:lnTo>
                  <a:lnTo>
                    <a:pt x="418617" y="600392"/>
                  </a:lnTo>
                  <a:lnTo>
                    <a:pt x="430288" y="596176"/>
                  </a:lnTo>
                  <a:lnTo>
                    <a:pt x="433324" y="589724"/>
                  </a:lnTo>
                  <a:close/>
                </a:path>
                <a:path w="652780" h="656590">
                  <a:moveTo>
                    <a:pt x="433324" y="67119"/>
                  </a:moveTo>
                  <a:lnTo>
                    <a:pt x="430288" y="60667"/>
                  </a:lnTo>
                  <a:lnTo>
                    <a:pt x="418642" y="56426"/>
                  </a:lnTo>
                  <a:lnTo>
                    <a:pt x="412191" y="59448"/>
                  </a:lnTo>
                  <a:lnTo>
                    <a:pt x="407962" y="71158"/>
                  </a:lnTo>
                  <a:lnTo>
                    <a:pt x="410984" y="77609"/>
                  </a:lnTo>
                  <a:lnTo>
                    <a:pt x="422643" y="81826"/>
                  </a:lnTo>
                  <a:lnTo>
                    <a:pt x="429082" y="78803"/>
                  </a:lnTo>
                  <a:lnTo>
                    <a:pt x="433324" y="67119"/>
                  </a:lnTo>
                  <a:close/>
                </a:path>
                <a:path w="652780" h="656590">
                  <a:moveTo>
                    <a:pt x="515912" y="119545"/>
                  </a:moveTo>
                  <a:lnTo>
                    <a:pt x="515353" y="112433"/>
                  </a:lnTo>
                  <a:lnTo>
                    <a:pt x="510527" y="108305"/>
                  </a:lnTo>
                  <a:lnTo>
                    <a:pt x="505802" y="104368"/>
                  </a:lnTo>
                  <a:lnTo>
                    <a:pt x="498779" y="104965"/>
                  </a:lnTo>
                  <a:lnTo>
                    <a:pt x="494792" y="109651"/>
                  </a:lnTo>
                  <a:lnTo>
                    <a:pt x="490766" y="114388"/>
                  </a:lnTo>
                  <a:lnTo>
                    <a:pt x="491337" y="121500"/>
                  </a:lnTo>
                  <a:lnTo>
                    <a:pt x="500773" y="129565"/>
                  </a:lnTo>
                  <a:lnTo>
                    <a:pt x="507860" y="129006"/>
                  </a:lnTo>
                  <a:lnTo>
                    <a:pt x="515912" y="119545"/>
                  </a:lnTo>
                  <a:close/>
                </a:path>
                <a:path w="652780" h="656590">
                  <a:moveTo>
                    <a:pt x="516166" y="537197"/>
                  </a:moveTo>
                  <a:lnTo>
                    <a:pt x="512102" y="532307"/>
                  </a:lnTo>
                  <a:lnTo>
                    <a:pt x="508114" y="527608"/>
                  </a:lnTo>
                  <a:lnTo>
                    <a:pt x="501103" y="527011"/>
                  </a:lnTo>
                  <a:lnTo>
                    <a:pt x="496366" y="530948"/>
                  </a:lnTo>
                  <a:lnTo>
                    <a:pt x="491591" y="534924"/>
                  </a:lnTo>
                  <a:lnTo>
                    <a:pt x="490943" y="542023"/>
                  </a:lnTo>
                  <a:lnTo>
                    <a:pt x="498881" y="551586"/>
                  </a:lnTo>
                  <a:lnTo>
                    <a:pt x="505955" y="552246"/>
                  </a:lnTo>
                  <a:lnTo>
                    <a:pt x="515505" y="544296"/>
                  </a:lnTo>
                  <a:lnTo>
                    <a:pt x="516166" y="537197"/>
                  </a:lnTo>
                  <a:close/>
                </a:path>
                <a:path w="652780" h="656590">
                  <a:moveTo>
                    <a:pt x="577697" y="466458"/>
                  </a:moveTo>
                  <a:lnTo>
                    <a:pt x="575957" y="459651"/>
                  </a:lnTo>
                  <a:lnTo>
                    <a:pt x="570522" y="456425"/>
                  </a:lnTo>
                  <a:lnTo>
                    <a:pt x="565162" y="453263"/>
                  </a:lnTo>
                  <a:lnTo>
                    <a:pt x="558292" y="455053"/>
                  </a:lnTo>
                  <a:lnTo>
                    <a:pt x="552005" y="465785"/>
                  </a:lnTo>
                  <a:lnTo>
                    <a:pt x="553783" y="472668"/>
                  </a:lnTo>
                  <a:lnTo>
                    <a:pt x="564476" y="478980"/>
                  </a:lnTo>
                  <a:lnTo>
                    <a:pt x="571360" y="477189"/>
                  </a:lnTo>
                  <a:lnTo>
                    <a:pt x="577697" y="466458"/>
                  </a:lnTo>
                  <a:close/>
                </a:path>
                <a:path w="652780" h="656590">
                  <a:moveTo>
                    <a:pt x="577710" y="190131"/>
                  </a:moveTo>
                  <a:lnTo>
                    <a:pt x="574560" y="184645"/>
                  </a:lnTo>
                  <a:lnTo>
                    <a:pt x="571436" y="179324"/>
                  </a:lnTo>
                  <a:lnTo>
                    <a:pt x="564629" y="177507"/>
                  </a:lnTo>
                  <a:lnTo>
                    <a:pt x="559282" y="180581"/>
                  </a:lnTo>
                  <a:lnTo>
                    <a:pt x="553910" y="183680"/>
                  </a:lnTo>
                  <a:lnTo>
                    <a:pt x="552056" y="190563"/>
                  </a:lnTo>
                  <a:lnTo>
                    <a:pt x="558241" y="201358"/>
                  </a:lnTo>
                  <a:lnTo>
                    <a:pt x="565111" y="203212"/>
                  </a:lnTo>
                  <a:lnTo>
                    <a:pt x="575856" y="197027"/>
                  </a:lnTo>
                  <a:lnTo>
                    <a:pt x="577710" y="190131"/>
                  </a:lnTo>
                  <a:close/>
                </a:path>
                <a:path w="652780" h="656590">
                  <a:moveTo>
                    <a:pt x="608952" y="274104"/>
                  </a:moveTo>
                  <a:lnTo>
                    <a:pt x="603910" y="269062"/>
                  </a:lnTo>
                  <a:lnTo>
                    <a:pt x="591515" y="269062"/>
                  </a:lnTo>
                  <a:lnTo>
                    <a:pt x="586473" y="274104"/>
                  </a:lnTo>
                  <a:lnTo>
                    <a:pt x="586473" y="286524"/>
                  </a:lnTo>
                  <a:lnTo>
                    <a:pt x="591515" y="291579"/>
                  </a:lnTo>
                  <a:lnTo>
                    <a:pt x="603910" y="291579"/>
                  </a:lnTo>
                  <a:lnTo>
                    <a:pt x="608952" y="286524"/>
                  </a:lnTo>
                  <a:lnTo>
                    <a:pt x="608952" y="280314"/>
                  </a:lnTo>
                  <a:lnTo>
                    <a:pt x="608952" y="274104"/>
                  </a:lnTo>
                  <a:close/>
                </a:path>
                <a:path w="652780" h="656590">
                  <a:moveTo>
                    <a:pt x="609841" y="372618"/>
                  </a:moveTo>
                  <a:lnTo>
                    <a:pt x="606171" y="366725"/>
                  </a:lnTo>
                  <a:lnTo>
                    <a:pt x="599503" y="365226"/>
                  </a:lnTo>
                  <a:lnTo>
                    <a:pt x="593407" y="364096"/>
                  </a:lnTo>
                  <a:lnTo>
                    <a:pt x="587540" y="368147"/>
                  </a:lnTo>
                  <a:lnTo>
                    <a:pt x="585317" y="380390"/>
                  </a:lnTo>
                  <a:lnTo>
                    <a:pt x="589356" y="386257"/>
                  </a:lnTo>
                  <a:lnTo>
                    <a:pt x="601497" y="388493"/>
                  </a:lnTo>
                  <a:lnTo>
                    <a:pt x="607301" y="384530"/>
                  </a:lnTo>
                  <a:lnTo>
                    <a:pt x="608495" y="378510"/>
                  </a:lnTo>
                  <a:lnTo>
                    <a:pt x="609841" y="372618"/>
                  </a:lnTo>
                  <a:close/>
                </a:path>
                <a:path w="652780" h="656590">
                  <a:moveTo>
                    <a:pt x="652767" y="363220"/>
                  </a:moveTo>
                  <a:lnTo>
                    <a:pt x="628269" y="364490"/>
                  </a:lnTo>
                  <a:lnTo>
                    <a:pt x="619061" y="328930"/>
                  </a:lnTo>
                  <a:lnTo>
                    <a:pt x="628040" y="293370"/>
                  </a:lnTo>
                  <a:lnTo>
                    <a:pt x="652538" y="295910"/>
                  </a:lnTo>
                  <a:lnTo>
                    <a:pt x="652259" y="293370"/>
                  </a:lnTo>
                  <a:lnTo>
                    <a:pt x="644448" y="248920"/>
                  </a:lnTo>
                  <a:lnTo>
                    <a:pt x="621982" y="259080"/>
                  </a:lnTo>
                  <a:lnTo>
                    <a:pt x="618388" y="253733"/>
                  </a:lnTo>
                  <a:lnTo>
                    <a:pt x="618388" y="328930"/>
                  </a:lnTo>
                  <a:lnTo>
                    <a:pt x="617321" y="354330"/>
                  </a:lnTo>
                  <a:lnTo>
                    <a:pt x="611644" y="392430"/>
                  </a:lnTo>
                  <a:lnTo>
                    <a:pt x="600862" y="429260"/>
                  </a:lnTo>
                  <a:lnTo>
                    <a:pt x="579285" y="474980"/>
                  </a:lnTo>
                  <a:lnTo>
                    <a:pt x="558050" y="506730"/>
                  </a:lnTo>
                  <a:lnTo>
                    <a:pt x="532892" y="535940"/>
                  </a:lnTo>
                  <a:lnTo>
                    <a:pt x="514121" y="552450"/>
                  </a:lnTo>
                  <a:lnTo>
                    <a:pt x="504126" y="561340"/>
                  </a:lnTo>
                  <a:lnTo>
                    <a:pt x="461175" y="588010"/>
                  </a:lnTo>
                  <a:lnTo>
                    <a:pt x="426262" y="603250"/>
                  </a:lnTo>
                  <a:lnTo>
                    <a:pt x="414172" y="608330"/>
                  </a:lnTo>
                  <a:lnTo>
                    <a:pt x="401929" y="610870"/>
                  </a:lnTo>
                  <a:lnTo>
                    <a:pt x="389547" y="614680"/>
                  </a:lnTo>
                  <a:lnTo>
                    <a:pt x="377050" y="617220"/>
                  </a:lnTo>
                  <a:lnTo>
                    <a:pt x="351840" y="619760"/>
                  </a:lnTo>
                  <a:lnTo>
                    <a:pt x="326491" y="621030"/>
                  </a:lnTo>
                  <a:lnTo>
                    <a:pt x="301142" y="619760"/>
                  </a:lnTo>
                  <a:lnTo>
                    <a:pt x="275932" y="617220"/>
                  </a:lnTo>
                  <a:lnTo>
                    <a:pt x="263436" y="614680"/>
                  </a:lnTo>
                  <a:lnTo>
                    <a:pt x="251053" y="610870"/>
                  </a:lnTo>
                  <a:lnTo>
                    <a:pt x="238810" y="608330"/>
                  </a:lnTo>
                  <a:lnTo>
                    <a:pt x="226720" y="603250"/>
                  </a:lnTo>
                  <a:lnTo>
                    <a:pt x="214845" y="599440"/>
                  </a:lnTo>
                  <a:lnTo>
                    <a:pt x="203200" y="594360"/>
                  </a:lnTo>
                  <a:lnTo>
                    <a:pt x="191795" y="588010"/>
                  </a:lnTo>
                  <a:lnTo>
                    <a:pt x="180657" y="581660"/>
                  </a:lnTo>
                  <a:lnTo>
                    <a:pt x="169786" y="575310"/>
                  </a:lnTo>
                  <a:lnTo>
                    <a:pt x="165569" y="572770"/>
                  </a:lnTo>
                  <a:lnTo>
                    <a:pt x="159232" y="568960"/>
                  </a:lnTo>
                  <a:lnTo>
                    <a:pt x="120332" y="535940"/>
                  </a:lnTo>
                  <a:lnTo>
                    <a:pt x="87668" y="496570"/>
                  </a:lnTo>
                  <a:lnTo>
                    <a:pt x="62179" y="453390"/>
                  </a:lnTo>
                  <a:lnTo>
                    <a:pt x="48463" y="417830"/>
                  </a:lnTo>
                  <a:lnTo>
                    <a:pt x="43357" y="398780"/>
                  </a:lnTo>
                  <a:lnTo>
                    <a:pt x="41833" y="392430"/>
                  </a:lnTo>
                  <a:lnTo>
                    <a:pt x="39319" y="379730"/>
                  </a:lnTo>
                  <a:lnTo>
                    <a:pt x="37401" y="364490"/>
                  </a:lnTo>
                  <a:lnTo>
                    <a:pt x="36118" y="354330"/>
                  </a:lnTo>
                  <a:lnTo>
                    <a:pt x="35052" y="328930"/>
                  </a:lnTo>
                  <a:lnTo>
                    <a:pt x="36118" y="303530"/>
                  </a:lnTo>
                  <a:lnTo>
                    <a:pt x="37401" y="293370"/>
                  </a:lnTo>
                  <a:lnTo>
                    <a:pt x="39319" y="278130"/>
                  </a:lnTo>
                  <a:lnTo>
                    <a:pt x="52578" y="228600"/>
                  </a:lnTo>
                  <a:lnTo>
                    <a:pt x="73926" y="182880"/>
                  </a:lnTo>
                  <a:lnTo>
                    <a:pt x="95224" y="151130"/>
                  </a:lnTo>
                  <a:lnTo>
                    <a:pt x="120307" y="121920"/>
                  </a:lnTo>
                  <a:lnTo>
                    <a:pt x="139090" y="105410"/>
                  </a:lnTo>
                  <a:lnTo>
                    <a:pt x="149047" y="96520"/>
                  </a:lnTo>
                  <a:lnTo>
                    <a:pt x="192024" y="69850"/>
                  </a:lnTo>
                  <a:lnTo>
                    <a:pt x="226949" y="54610"/>
                  </a:lnTo>
                  <a:lnTo>
                    <a:pt x="239039" y="49530"/>
                  </a:lnTo>
                  <a:lnTo>
                    <a:pt x="251282" y="46990"/>
                  </a:lnTo>
                  <a:lnTo>
                    <a:pt x="263652" y="43180"/>
                  </a:lnTo>
                  <a:lnTo>
                    <a:pt x="276161" y="40640"/>
                  </a:lnTo>
                  <a:lnTo>
                    <a:pt x="301307" y="38100"/>
                  </a:lnTo>
                  <a:lnTo>
                    <a:pt x="326605" y="36830"/>
                  </a:lnTo>
                  <a:lnTo>
                    <a:pt x="351904" y="38100"/>
                  </a:lnTo>
                  <a:lnTo>
                    <a:pt x="377050" y="40640"/>
                  </a:lnTo>
                  <a:lnTo>
                    <a:pt x="389610" y="43180"/>
                  </a:lnTo>
                  <a:lnTo>
                    <a:pt x="402043" y="46990"/>
                  </a:lnTo>
                  <a:lnTo>
                    <a:pt x="414337" y="49530"/>
                  </a:lnTo>
                  <a:lnTo>
                    <a:pt x="426478" y="54610"/>
                  </a:lnTo>
                  <a:lnTo>
                    <a:pt x="438340" y="58420"/>
                  </a:lnTo>
                  <a:lnTo>
                    <a:pt x="449973" y="63500"/>
                  </a:lnTo>
                  <a:lnTo>
                    <a:pt x="483501" y="82550"/>
                  </a:lnTo>
                  <a:lnTo>
                    <a:pt x="514350" y="105410"/>
                  </a:lnTo>
                  <a:lnTo>
                    <a:pt x="523900" y="113030"/>
                  </a:lnTo>
                  <a:lnTo>
                    <a:pt x="533082" y="121920"/>
                  </a:lnTo>
                  <a:lnTo>
                    <a:pt x="541883" y="132080"/>
                  </a:lnTo>
                  <a:lnTo>
                    <a:pt x="550303" y="140970"/>
                  </a:lnTo>
                  <a:lnTo>
                    <a:pt x="579513" y="182880"/>
                  </a:lnTo>
                  <a:lnTo>
                    <a:pt x="596328" y="217170"/>
                  </a:lnTo>
                  <a:lnTo>
                    <a:pt x="608533" y="254000"/>
                  </a:lnTo>
                  <a:lnTo>
                    <a:pt x="617321" y="303530"/>
                  </a:lnTo>
                  <a:lnTo>
                    <a:pt x="618388" y="328930"/>
                  </a:lnTo>
                  <a:lnTo>
                    <a:pt x="618388" y="253733"/>
                  </a:lnTo>
                  <a:lnTo>
                    <a:pt x="601535" y="228600"/>
                  </a:lnTo>
                  <a:lnTo>
                    <a:pt x="597941" y="193040"/>
                  </a:lnTo>
                  <a:lnTo>
                    <a:pt x="621525" y="185420"/>
                  </a:lnTo>
                  <a:lnTo>
                    <a:pt x="618159" y="179070"/>
                  </a:lnTo>
                  <a:lnTo>
                    <a:pt x="610514" y="165100"/>
                  </a:lnTo>
                  <a:lnTo>
                    <a:pt x="610298" y="165100"/>
                  </a:lnTo>
                  <a:lnTo>
                    <a:pt x="610298" y="163830"/>
                  </a:lnTo>
                  <a:lnTo>
                    <a:pt x="608672" y="161290"/>
                  </a:lnTo>
                  <a:lnTo>
                    <a:pt x="602208" y="151130"/>
                  </a:lnTo>
                  <a:lnTo>
                    <a:pt x="597712" y="144780"/>
                  </a:lnTo>
                  <a:lnTo>
                    <a:pt x="579958" y="161290"/>
                  </a:lnTo>
                  <a:lnTo>
                    <a:pt x="550519" y="139700"/>
                  </a:lnTo>
                  <a:lnTo>
                    <a:pt x="535012" y="107950"/>
                  </a:lnTo>
                  <a:lnTo>
                    <a:pt x="554786" y="92710"/>
                  </a:lnTo>
                  <a:lnTo>
                    <a:pt x="549173" y="87630"/>
                  </a:lnTo>
                  <a:lnTo>
                    <a:pt x="545668" y="83820"/>
                  </a:lnTo>
                  <a:lnTo>
                    <a:pt x="543331" y="81280"/>
                  </a:lnTo>
                  <a:lnTo>
                    <a:pt x="525132" y="67310"/>
                  </a:lnTo>
                  <a:lnTo>
                    <a:pt x="518617" y="62230"/>
                  </a:lnTo>
                  <a:lnTo>
                    <a:pt x="507606" y="83820"/>
                  </a:lnTo>
                  <a:lnTo>
                    <a:pt x="472770" y="74930"/>
                  </a:lnTo>
                  <a:lnTo>
                    <a:pt x="446938" y="49530"/>
                  </a:lnTo>
                  <a:lnTo>
                    <a:pt x="452831" y="40640"/>
                  </a:lnTo>
                  <a:lnTo>
                    <a:pt x="460413" y="29210"/>
                  </a:lnTo>
                  <a:lnTo>
                    <a:pt x="446036" y="22860"/>
                  </a:lnTo>
                  <a:lnTo>
                    <a:pt x="438619" y="20320"/>
                  </a:lnTo>
                  <a:lnTo>
                    <a:pt x="438391" y="20320"/>
                  </a:lnTo>
                  <a:lnTo>
                    <a:pt x="430974" y="16510"/>
                  </a:lnTo>
                  <a:lnTo>
                    <a:pt x="423557" y="13970"/>
                  </a:lnTo>
                  <a:lnTo>
                    <a:pt x="415925" y="12700"/>
                  </a:lnTo>
                  <a:lnTo>
                    <a:pt x="413232" y="36830"/>
                  </a:lnTo>
                  <a:lnTo>
                    <a:pt x="377278" y="40640"/>
                  </a:lnTo>
                  <a:lnTo>
                    <a:pt x="369074" y="36830"/>
                  </a:lnTo>
                  <a:lnTo>
                    <a:pt x="344462" y="25400"/>
                  </a:lnTo>
                  <a:lnTo>
                    <a:pt x="350088" y="1270"/>
                  </a:lnTo>
                  <a:lnTo>
                    <a:pt x="334352" y="0"/>
                  </a:lnTo>
                  <a:lnTo>
                    <a:pt x="310756" y="0"/>
                  </a:lnTo>
                  <a:lnTo>
                    <a:pt x="302895" y="1270"/>
                  </a:lnTo>
                  <a:lnTo>
                    <a:pt x="308508" y="25400"/>
                  </a:lnTo>
                  <a:lnTo>
                    <a:pt x="275488" y="40640"/>
                  </a:lnTo>
                  <a:lnTo>
                    <a:pt x="239534" y="36830"/>
                  </a:lnTo>
                  <a:lnTo>
                    <a:pt x="236829" y="12700"/>
                  </a:lnTo>
                  <a:lnTo>
                    <a:pt x="229196" y="15240"/>
                  </a:lnTo>
                  <a:lnTo>
                    <a:pt x="214363" y="20320"/>
                  </a:lnTo>
                  <a:lnTo>
                    <a:pt x="214134" y="20320"/>
                  </a:lnTo>
                  <a:lnTo>
                    <a:pt x="206717" y="22860"/>
                  </a:lnTo>
                  <a:lnTo>
                    <a:pt x="199529" y="25400"/>
                  </a:lnTo>
                  <a:lnTo>
                    <a:pt x="192341" y="29210"/>
                  </a:lnTo>
                  <a:lnTo>
                    <a:pt x="205828" y="49530"/>
                  </a:lnTo>
                  <a:lnTo>
                    <a:pt x="180213" y="74930"/>
                  </a:lnTo>
                  <a:lnTo>
                    <a:pt x="145376" y="85090"/>
                  </a:lnTo>
                  <a:lnTo>
                    <a:pt x="134366" y="62230"/>
                  </a:lnTo>
                  <a:lnTo>
                    <a:pt x="121780" y="72390"/>
                  </a:lnTo>
                  <a:lnTo>
                    <a:pt x="109651" y="82550"/>
                  </a:lnTo>
                  <a:lnTo>
                    <a:pt x="103809" y="87630"/>
                  </a:lnTo>
                  <a:lnTo>
                    <a:pt x="98196" y="92710"/>
                  </a:lnTo>
                  <a:lnTo>
                    <a:pt x="117741" y="107950"/>
                  </a:lnTo>
                  <a:lnTo>
                    <a:pt x="102235" y="139700"/>
                  </a:lnTo>
                  <a:lnTo>
                    <a:pt x="72796" y="161290"/>
                  </a:lnTo>
                  <a:lnTo>
                    <a:pt x="55041" y="144780"/>
                  </a:lnTo>
                  <a:lnTo>
                    <a:pt x="50558" y="151130"/>
                  </a:lnTo>
                  <a:lnTo>
                    <a:pt x="42468" y="163830"/>
                  </a:lnTo>
                  <a:lnTo>
                    <a:pt x="42468" y="165100"/>
                  </a:lnTo>
                  <a:lnTo>
                    <a:pt x="42240" y="165100"/>
                  </a:lnTo>
                  <a:lnTo>
                    <a:pt x="34594" y="177800"/>
                  </a:lnTo>
                  <a:lnTo>
                    <a:pt x="31229" y="185420"/>
                  </a:lnTo>
                  <a:lnTo>
                    <a:pt x="54825" y="193040"/>
                  </a:lnTo>
                  <a:lnTo>
                    <a:pt x="51231" y="228600"/>
                  </a:lnTo>
                  <a:lnTo>
                    <a:pt x="30784" y="259080"/>
                  </a:lnTo>
                  <a:lnTo>
                    <a:pt x="8305" y="248920"/>
                  </a:lnTo>
                  <a:lnTo>
                    <a:pt x="4711" y="264160"/>
                  </a:lnTo>
                  <a:lnTo>
                    <a:pt x="3365" y="271780"/>
                  </a:lnTo>
                  <a:lnTo>
                    <a:pt x="3136" y="271780"/>
                  </a:lnTo>
                  <a:lnTo>
                    <a:pt x="1790" y="279400"/>
                  </a:lnTo>
                  <a:lnTo>
                    <a:pt x="673" y="287020"/>
                  </a:lnTo>
                  <a:lnTo>
                    <a:pt x="0" y="295910"/>
                  </a:lnTo>
                  <a:lnTo>
                    <a:pt x="24485" y="293370"/>
                  </a:lnTo>
                  <a:lnTo>
                    <a:pt x="33477" y="328930"/>
                  </a:lnTo>
                  <a:lnTo>
                    <a:pt x="24485" y="364490"/>
                  </a:lnTo>
                  <a:lnTo>
                    <a:pt x="0" y="361950"/>
                  </a:lnTo>
                  <a:lnTo>
                    <a:pt x="1790" y="378460"/>
                  </a:lnTo>
                  <a:lnTo>
                    <a:pt x="3136" y="386080"/>
                  </a:lnTo>
                  <a:lnTo>
                    <a:pt x="3365" y="386080"/>
                  </a:lnTo>
                  <a:lnTo>
                    <a:pt x="4711" y="393700"/>
                  </a:lnTo>
                  <a:lnTo>
                    <a:pt x="6286" y="401320"/>
                  </a:lnTo>
                  <a:lnTo>
                    <a:pt x="8305" y="408940"/>
                  </a:lnTo>
                  <a:lnTo>
                    <a:pt x="30784" y="398780"/>
                  </a:lnTo>
                  <a:lnTo>
                    <a:pt x="51231" y="429260"/>
                  </a:lnTo>
                  <a:lnTo>
                    <a:pt x="54825" y="464820"/>
                  </a:lnTo>
                  <a:lnTo>
                    <a:pt x="31229" y="472440"/>
                  </a:lnTo>
                  <a:lnTo>
                    <a:pt x="34594" y="478790"/>
                  </a:lnTo>
                  <a:lnTo>
                    <a:pt x="42240" y="492760"/>
                  </a:lnTo>
                  <a:lnTo>
                    <a:pt x="42468" y="492760"/>
                  </a:lnTo>
                  <a:lnTo>
                    <a:pt x="46278" y="500380"/>
                  </a:lnTo>
                  <a:lnTo>
                    <a:pt x="50558" y="506730"/>
                  </a:lnTo>
                  <a:lnTo>
                    <a:pt x="55041" y="513080"/>
                  </a:lnTo>
                  <a:lnTo>
                    <a:pt x="72796" y="496570"/>
                  </a:lnTo>
                  <a:lnTo>
                    <a:pt x="102235" y="516890"/>
                  </a:lnTo>
                  <a:lnTo>
                    <a:pt x="117741" y="549910"/>
                  </a:lnTo>
                  <a:lnTo>
                    <a:pt x="97967" y="565150"/>
                  </a:lnTo>
                  <a:lnTo>
                    <a:pt x="103581" y="570230"/>
                  </a:lnTo>
                  <a:lnTo>
                    <a:pt x="109423" y="575310"/>
                  </a:lnTo>
                  <a:lnTo>
                    <a:pt x="127622" y="590550"/>
                  </a:lnTo>
                  <a:lnTo>
                    <a:pt x="134150" y="595630"/>
                  </a:lnTo>
                  <a:lnTo>
                    <a:pt x="145148" y="572770"/>
                  </a:lnTo>
                  <a:lnTo>
                    <a:pt x="179984" y="582930"/>
                  </a:lnTo>
                  <a:lnTo>
                    <a:pt x="205828" y="608330"/>
                  </a:lnTo>
                  <a:lnTo>
                    <a:pt x="192341" y="628650"/>
                  </a:lnTo>
                  <a:lnTo>
                    <a:pt x="199529" y="631190"/>
                  </a:lnTo>
                  <a:lnTo>
                    <a:pt x="206717" y="635000"/>
                  </a:lnTo>
                  <a:lnTo>
                    <a:pt x="214134" y="637540"/>
                  </a:lnTo>
                  <a:lnTo>
                    <a:pt x="214363" y="637540"/>
                  </a:lnTo>
                  <a:lnTo>
                    <a:pt x="229196" y="642620"/>
                  </a:lnTo>
                  <a:lnTo>
                    <a:pt x="236829" y="645160"/>
                  </a:lnTo>
                  <a:lnTo>
                    <a:pt x="239534" y="619760"/>
                  </a:lnTo>
                  <a:lnTo>
                    <a:pt x="275488" y="617220"/>
                  </a:lnTo>
                  <a:lnTo>
                    <a:pt x="308508" y="632460"/>
                  </a:lnTo>
                  <a:lnTo>
                    <a:pt x="302895" y="656590"/>
                  </a:lnTo>
                  <a:lnTo>
                    <a:pt x="350088" y="656590"/>
                  </a:lnTo>
                  <a:lnTo>
                    <a:pt x="344462" y="632460"/>
                  </a:lnTo>
                  <a:lnTo>
                    <a:pt x="369239" y="621030"/>
                  </a:lnTo>
                  <a:lnTo>
                    <a:pt x="377494" y="617220"/>
                  </a:lnTo>
                  <a:lnTo>
                    <a:pt x="413448" y="619760"/>
                  </a:lnTo>
                  <a:lnTo>
                    <a:pt x="416153" y="645160"/>
                  </a:lnTo>
                  <a:lnTo>
                    <a:pt x="423786" y="642620"/>
                  </a:lnTo>
                  <a:lnTo>
                    <a:pt x="438619" y="637540"/>
                  </a:lnTo>
                  <a:lnTo>
                    <a:pt x="438848" y="637540"/>
                  </a:lnTo>
                  <a:lnTo>
                    <a:pt x="446265" y="635000"/>
                  </a:lnTo>
                  <a:lnTo>
                    <a:pt x="453453" y="631190"/>
                  </a:lnTo>
                  <a:lnTo>
                    <a:pt x="460641" y="628650"/>
                  </a:lnTo>
                  <a:lnTo>
                    <a:pt x="453059" y="617220"/>
                  </a:lnTo>
                  <a:lnTo>
                    <a:pt x="447154" y="608330"/>
                  </a:lnTo>
                  <a:lnTo>
                    <a:pt x="472998" y="582930"/>
                  </a:lnTo>
                  <a:lnTo>
                    <a:pt x="507822" y="572770"/>
                  </a:lnTo>
                  <a:lnTo>
                    <a:pt x="518833" y="595630"/>
                  </a:lnTo>
                  <a:lnTo>
                    <a:pt x="531418" y="585470"/>
                  </a:lnTo>
                  <a:lnTo>
                    <a:pt x="543560" y="575310"/>
                  </a:lnTo>
                  <a:lnTo>
                    <a:pt x="546481" y="572770"/>
                  </a:lnTo>
                  <a:lnTo>
                    <a:pt x="549402" y="570230"/>
                  </a:lnTo>
                  <a:lnTo>
                    <a:pt x="555015" y="565150"/>
                  </a:lnTo>
                  <a:lnTo>
                    <a:pt x="535241" y="549910"/>
                  </a:lnTo>
                  <a:lnTo>
                    <a:pt x="550748" y="516890"/>
                  </a:lnTo>
                  <a:lnTo>
                    <a:pt x="580186" y="496570"/>
                  </a:lnTo>
                  <a:lnTo>
                    <a:pt x="597941" y="513080"/>
                  </a:lnTo>
                  <a:lnTo>
                    <a:pt x="602424" y="506730"/>
                  </a:lnTo>
                  <a:lnTo>
                    <a:pt x="606475" y="500380"/>
                  </a:lnTo>
                  <a:lnTo>
                    <a:pt x="608495" y="496570"/>
                  </a:lnTo>
                  <a:lnTo>
                    <a:pt x="610514" y="492760"/>
                  </a:lnTo>
                  <a:lnTo>
                    <a:pt x="610743" y="492760"/>
                  </a:lnTo>
                  <a:lnTo>
                    <a:pt x="614565" y="486410"/>
                  </a:lnTo>
                  <a:lnTo>
                    <a:pt x="618388" y="478790"/>
                  </a:lnTo>
                  <a:lnTo>
                    <a:pt x="621753" y="472440"/>
                  </a:lnTo>
                  <a:lnTo>
                    <a:pt x="598157" y="464820"/>
                  </a:lnTo>
                  <a:lnTo>
                    <a:pt x="601751" y="429260"/>
                  </a:lnTo>
                  <a:lnTo>
                    <a:pt x="622198" y="398780"/>
                  </a:lnTo>
                  <a:lnTo>
                    <a:pt x="644677" y="408940"/>
                  </a:lnTo>
                  <a:lnTo>
                    <a:pt x="646696" y="401320"/>
                  </a:lnTo>
                  <a:lnTo>
                    <a:pt x="647217" y="398780"/>
                  </a:lnTo>
                  <a:lnTo>
                    <a:pt x="648271" y="393700"/>
                  </a:lnTo>
                  <a:lnTo>
                    <a:pt x="650963" y="378460"/>
                  </a:lnTo>
                  <a:lnTo>
                    <a:pt x="652094" y="370840"/>
                  </a:lnTo>
                  <a:lnTo>
                    <a:pt x="652653" y="364490"/>
                  </a:lnTo>
                  <a:lnTo>
                    <a:pt x="652767" y="363220"/>
                  </a:lnTo>
                  <a:close/>
                </a:path>
              </a:pathLst>
            </a:custGeom>
            <a:solidFill>
              <a:srgbClr val="B1C78B"/>
            </a:solidFill>
          </p:spPr>
          <p:txBody>
            <a:bodyPr wrap="square" lIns="0" tIns="0" rIns="0" bIns="0" rtlCol="0"/>
            <a:lstStyle/>
            <a:p>
              <a:endParaRPr lang="en-US" noProof="0" dirty="0"/>
            </a:p>
          </p:txBody>
        </p:sp>
        <p:sp>
          <p:nvSpPr>
            <p:cNvPr id="31" name="object 31"/>
            <p:cNvSpPr/>
            <p:nvPr/>
          </p:nvSpPr>
          <p:spPr>
            <a:xfrm>
              <a:off x="962783" y="6738449"/>
              <a:ext cx="508000" cy="508634"/>
            </a:xfrm>
            <a:custGeom>
              <a:avLst/>
              <a:gdLst/>
              <a:ahLst/>
              <a:cxnLst/>
              <a:rect l="l" t="t" r="r" b="b"/>
              <a:pathLst>
                <a:path w="508000" h="508634">
                  <a:moveTo>
                    <a:pt x="253691" y="0"/>
                  </a:moveTo>
                  <a:lnTo>
                    <a:pt x="208091" y="4096"/>
                  </a:lnTo>
                  <a:lnTo>
                    <a:pt x="165172" y="15905"/>
                  </a:lnTo>
                  <a:lnTo>
                    <a:pt x="125650" y="34709"/>
                  </a:lnTo>
                  <a:lnTo>
                    <a:pt x="90243" y="59790"/>
                  </a:lnTo>
                  <a:lnTo>
                    <a:pt x="59666" y="90431"/>
                  </a:lnTo>
                  <a:lnTo>
                    <a:pt x="34637" y="125911"/>
                  </a:lnTo>
                  <a:lnTo>
                    <a:pt x="15872" y="165515"/>
                  </a:lnTo>
                  <a:lnTo>
                    <a:pt x="4087" y="208523"/>
                  </a:lnTo>
                  <a:lnTo>
                    <a:pt x="0" y="254217"/>
                  </a:lnTo>
                  <a:lnTo>
                    <a:pt x="4087" y="299916"/>
                  </a:lnTo>
                  <a:lnTo>
                    <a:pt x="15872" y="342926"/>
                  </a:lnTo>
                  <a:lnTo>
                    <a:pt x="34637" y="382531"/>
                  </a:lnTo>
                  <a:lnTo>
                    <a:pt x="59666" y="418011"/>
                  </a:lnTo>
                  <a:lnTo>
                    <a:pt x="90243" y="448649"/>
                  </a:lnTo>
                  <a:lnTo>
                    <a:pt x="125650" y="473729"/>
                  </a:lnTo>
                  <a:lnTo>
                    <a:pt x="165172" y="492531"/>
                  </a:lnTo>
                  <a:lnTo>
                    <a:pt x="208091" y="504339"/>
                  </a:lnTo>
                  <a:lnTo>
                    <a:pt x="253691" y="508434"/>
                  </a:lnTo>
                  <a:lnTo>
                    <a:pt x="299291" y="504339"/>
                  </a:lnTo>
                  <a:lnTo>
                    <a:pt x="342210" y="492531"/>
                  </a:lnTo>
                  <a:lnTo>
                    <a:pt x="381732" y="473729"/>
                  </a:lnTo>
                  <a:lnTo>
                    <a:pt x="417140" y="448649"/>
                  </a:lnTo>
                  <a:lnTo>
                    <a:pt x="447717" y="418011"/>
                  </a:lnTo>
                  <a:lnTo>
                    <a:pt x="472746" y="382531"/>
                  </a:lnTo>
                  <a:lnTo>
                    <a:pt x="491512" y="342926"/>
                  </a:lnTo>
                  <a:lnTo>
                    <a:pt x="503297" y="299916"/>
                  </a:lnTo>
                  <a:lnTo>
                    <a:pt x="507384" y="254217"/>
                  </a:lnTo>
                  <a:lnTo>
                    <a:pt x="503297" y="208523"/>
                  </a:lnTo>
                  <a:lnTo>
                    <a:pt x="491512" y="165515"/>
                  </a:lnTo>
                  <a:lnTo>
                    <a:pt x="472746" y="125911"/>
                  </a:lnTo>
                  <a:lnTo>
                    <a:pt x="447717" y="90431"/>
                  </a:lnTo>
                  <a:lnTo>
                    <a:pt x="417140" y="59790"/>
                  </a:lnTo>
                  <a:lnTo>
                    <a:pt x="381732" y="34709"/>
                  </a:lnTo>
                  <a:lnTo>
                    <a:pt x="342210" y="15905"/>
                  </a:lnTo>
                  <a:lnTo>
                    <a:pt x="299291" y="4096"/>
                  </a:lnTo>
                  <a:lnTo>
                    <a:pt x="25369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lang="en-US" noProof="0" dirty="0"/>
            </a:p>
          </p:txBody>
        </p:sp>
        <p:pic>
          <p:nvPicPr>
            <p:cNvPr id="32" name="object 3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81186" y="6924177"/>
              <a:ext cx="199990" cy="137072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02505" y="6924158"/>
              <a:ext cx="249255" cy="137034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1204190" y="7100388"/>
              <a:ext cx="24765" cy="112395"/>
            </a:xfrm>
            <a:custGeom>
              <a:avLst/>
              <a:gdLst/>
              <a:ahLst/>
              <a:cxnLst/>
              <a:rect l="l" t="t" r="r" b="b"/>
              <a:pathLst>
                <a:path w="24765" h="112395">
                  <a:moveTo>
                    <a:pt x="24582" y="0"/>
                  </a:moveTo>
                  <a:lnTo>
                    <a:pt x="0" y="0"/>
                  </a:lnTo>
                  <a:lnTo>
                    <a:pt x="0" y="111819"/>
                  </a:lnTo>
                  <a:lnTo>
                    <a:pt x="24582" y="111819"/>
                  </a:lnTo>
                  <a:lnTo>
                    <a:pt x="24582" y="0"/>
                  </a:lnTo>
                  <a:close/>
                </a:path>
              </a:pathLst>
            </a:custGeom>
            <a:solidFill>
              <a:srgbClr val="7EA23E"/>
            </a:solidFill>
          </p:spPr>
          <p:txBody>
            <a:bodyPr wrap="square" lIns="0" tIns="0" rIns="0" bIns="0" rtlCol="0"/>
            <a:lstStyle/>
            <a:p>
              <a:endParaRPr lang="en-US" noProof="0" dirty="0"/>
            </a:p>
          </p:txBody>
        </p:sp>
      </p:grpSp>
      <p:pic>
        <p:nvPicPr>
          <p:cNvPr id="39" name="Image 38">
            <a:extLst>
              <a:ext uri="{FF2B5EF4-FFF2-40B4-BE49-F238E27FC236}">
                <a16:creationId xmlns:a16="http://schemas.microsoft.com/office/drawing/2014/main" id="{43167224-46B9-3BCB-4F4C-719F8188D36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588" y="2189126"/>
            <a:ext cx="1321175" cy="1321175"/>
          </a:xfrm>
          <a:prstGeom prst="rect">
            <a:avLst/>
          </a:prstGeom>
        </p:spPr>
      </p:pic>
      <p:pic>
        <p:nvPicPr>
          <p:cNvPr id="41" name="Image 40">
            <a:extLst>
              <a:ext uri="{FF2B5EF4-FFF2-40B4-BE49-F238E27FC236}">
                <a16:creationId xmlns:a16="http://schemas.microsoft.com/office/drawing/2014/main" id="{0EBDADE8-576E-CA86-5D20-FEC06EB48B6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017" y="3647968"/>
            <a:ext cx="1338316" cy="1338316"/>
          </a:xfrm>
          <a:prstGeom prst="rect">
            <a:avLst/>
          </a:prstGeom>
        </p:spPr>
      </p:pic>
      <p:pic>
        <p:nvPicPr>
          <p:cNvPr id="43" name="Image 42">
            <a:extLst>
              <a:ext uri="{FF2B5EF4-FFF2-40B4-BE49-F238E27FC236}">
                <a16:creationId xmlns:a16="http://schemas.microsoft.com/office/drawing/2014/main" id="{1C74413B-9B7A-CFDD-4DCD-E51EC963F4A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531" y="5138684"/>
            <a:ext cx="1338316" cy="1338316"/>
          </a:xfrm>
          <a:prstGeom prst="rect">
            <a:avLst/>
          </a:prstGeom>
        </p:spPr>
      </p:pic>
      <p:pic>
        <p:nvPicPr>
          <p:cNvPr id="15" name="Picture 2" descr="AWS Certified AI Practitioner Certification | AWS Certification | AWS">
            <a:extLst>
              <a:ext uri="{FF2B5EF4-FFF2-40B4-BE49-F238E27FC236}">
                <a16:creationId xmlns:a16="http://schemas.microsoft.com/office/drawing/2014/main" id="{6355BC75-4C28-18FE-232E-96ABCCD1FA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010" y="628650"/>
            <a:ext cx="1428750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2" name="object 19">
            <a:extLst>
              <a:ext uri="{FF2B5EF4-FFF2-40B4-BE49-F238E27FC236}">
                <a16:creationId xmlns:a16="http://schemas.microsoft.com/office/drawing/2014/main" id="{A3072C45-5EF4-F068-4A5E-FBC6A1050DDC}"/>
              </a:ext>
            </a:extLst>
          </p:cNvPr>
          <p:cNvGrpSpPr/>
          <p:nvPr/>
        </p:nvGrpSpPr>
        <p:grpSpPr>
          <a:xfrm>
            <a:off x="2074545" y="9243695"/>
            <a:ext cx="2941320" cy="586105"/>
            <a:chOff x="2074545" y="830580"/>
            <a:chExt cx="2941320" cy="586105"/>
          </a:xfrm>
        </p:grpSpPr>
        <p:sp>
          <p:nvSpPr>
            <p:cNvPr id="44" name="object 20">
              <a:extLst>
                <a:ext uri="{FF2B5EF4-FFF2-40B4-BE49-F238E27FC236}">
                  <a16:creationId xmlns:a16="http://schemas.microsoft.com/office/drawing/2014/main" id="{1702F272-420C-C51B-00F6-0EA3103F91BA}"/>
                </a:ext>
              </a:extLst>
            </p:cNvPr>
            <p:cNvSpPr/>
            <p:nvPr/>
          </p:nvSpPr>
          <p:spPr>
            <a:xfrm>
              <a:off x="2074545" y="1199896"/>
              <a:ext cx="260350" cy="216535"/>
            </a:xfrm>
            <a:custGeom>
              <a:avLst/>
              <a:gdLst/>
              <a:ahLst/>
              <a:cxnLst/>
              <a:rect l="l" t="t" r="r" b="b"/>
              <a:pathLst>
                <a:path w="260350" h="216534">
                  <a:moveTo>
                    <a:pt x="259842" y="0"/>
                  </a:moveTo>
                  <a:lnTo>
                    <a:pt x="0" y="7747"/>
                  </a:lnTo>
                  <a:lnTo>
                    <a:pt x="248031" y="216534"/>
                  </a:lnTo>
                  <a:lnTo>
                    <a:pt x="259842" y="0"/>
                  </a:lnTo>
                  <a:close/>
                </a:path>
              </a:pathLst>
            </a:custGeom>
            <a:solidFill>
              <a:srgbClr val="2A4653"/>
            </a:solidFill>
          </p:spPr>
          <p:txBody>
            <a:bodyPr wrap="square" lIns="0" tIns="0" rIns="0" bIns="0" rtlCol="0"/>
            <a:lstStyle/>
            <a:p>
              <a:endParaRPr lang="en-US" noProof="0" dirty="0"/>
            </a:p>
          </p:txBody>
        </p:sp>
        <p:sp>
          <p:nvSpPr>
            <p:cNvPr id="45" name="object 21">
              <a:extLst>
                <a:ext uri="{FF2B5EF4-FFF2-40B4-BE49-F238E27FC236}">
                  <a16:creationId xmlns:a16="http://schemas.microsoft.com/office/drawing/2014/main" id="{F42B647F-4FCA-F29A-65EE-5F06A93C8B9E}"/>
                </a:ext>
              </a:extLst>
            </p:cNvPr>
            <p:cNvSpPr/>
            <p:nvPr/>
          </p:nvSpPr>
          <p:spPr>
            <a:xfrm>
              <a:off x="2077212" y="830580"/>
              <a:ext cx="2938780" cy="372110"/>
            </a:xfrm>
            <a:custGeom>
              <a:avLst/>
              <a:gdLst/>
              <a:ahLst/>
              <a:cxnLst/>
              <a:rect l="l" t="t" r="r" b="b"/>
              <a:pathLst>
                <a:path w="2938779" h="372109">
                  <a:moveTo>
                    <a:pt x="2876296" y="0"/>
                  </a:moveTo>
                  <a:lnTo>
                    <a:pt x="0" y="0"/>
                  </a:lnTo>
                  <a:lnTo>
                    <a:pt x="0" y="371855"/>
                  </a:lnTo>
                  <a:lnTo>
                    <a:pt x="2938272" y="371855"/>
                  </a:lnTo>
                  <a:lnTo>
                    <a:pt x="2938272" y="61975"/>
                  </a:lnTo>
                  <a:lnTo>
                    <a:pt x="2876296" y="0"/>
                  </a:lnTo>
                  <a:close/>
                </a:path>
              </a:pathLst>
            </a:custGeom>
            <a:solidFill>
              <a:srgbClr val="3A6278"/>
            </a:solidFill>
          </p:spPr>
          <p:txBody>
            <a:bodyPr wrap="square" lIns="0" tIns="0" rIns="0" bIns="0" rtlCol="0"/>
            <a:lstStyle/>
            <a:p>
              <a:endParaRPr lang="en-US" noProof="0" dirty="0"/>
            </a:p>
          </p:txBody>
        </p:sp>
      </p:grpSp>
      <p:sp>
        <p:nvSpPr>
          <p:cNvPr id="49" name="object 12">
            <a:extLst>
              <a:ext uri="{FF2B5EF4-FFF2-40B4-BE49-F238E27FC236}">
                <a16:creationId xmlns:a16="http://schemas.microsoft.com/office/drawing/2014/main" id="{DDFE9E50-A333-CC4E-948A-98E225D2047F}"/>
              </a:ext>
            </a:extLst>
          </p:cNvPr>
          <p:cNvSpPr txBox="1"/>
          <p:nvPr/>
        </p:nvSpPr>
        <p:spPr>
          <a:xfrm>
            <a:off x="2328798" y="9278112"/>
            <a:ext cx="2687193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1800" b="1" noProof="0" dirty="0">
                <a:solidFill>
                  <a:srgbClr val="FFFFFF"/>
                </a:solidFill>
                <a:latin typeface="Calibri"/>
                <a:cs typeface="Calibri"/>
              </a:rPr>
              <a:t>PERSONAL WEBSITE</a:t>
            </a:r>
            <a:endParaRPr lang="en-US" sz="1800" noProof="0" dirty="0">
              <a:latin typeface="Calibri"/>
              <a:cs typeface="Calibri"/>
            </a:endParaRPr>
          </a:p>
        </p:txBody>
      </p:sp>
      <p:sp>
        <p:nvSpPr>
          <p:cNvPr id="50" name="object 47">
            <a:extLst>
              <a:ext uri="{FF2B5EF4-FFF2-40B4-BE49-F238E27FC236}">
                <a16:creationId xmlns:a16="http://schemas.microsoft.com/office/drawing/2014/main" id="{6B37276C-33C9-FCC6-98D7-B8408D2524EE}"/>
              </a:ext>
            </a:extLst>
          </p:cNvPr>
          <p:cNvSpPr txBox="1"/>
          <p:nvPr/>
        </p:nvSpPr>
        <p:spPr>
          <a:xfrm>
            <a:off x="2334895" y="9600000"/>
            <a:ext cx="4599305" cy="209353"/>
          </a:xfrm>
          <a:prstGeom prst="rect">
            <a:avLst/>
          </a:prstGeom>
          <a:solidFill>
            <a:srgbClr val="DCE6F1"/>
          </a:solidFill>
        </p:spPr>
        <p:txBody>
          <a:bodyPr vert="horz" wrap="square" lIns="0" tIns="28575" rIns="0" bIns="0" rtlCol="0">
            <a:spAutoFit/>
          </a:bodyPr>
          <a:lstStyle/>
          <a:p>
            <a:pPr marL="97790" marR="83185" indent="-6350" algn="just">
              <a:lnSpc>
                <a:spcPct val="104500"/>
              </a:lnSpc>
              <a:spcBef>
                <a:spcPts val="225"/>
              </a:spcBef>
            </a:pPr>
            <a:r>
              <a:rPr lang="en-US" sz="1200" b="1" noProof="0" dirty="0">
                <a:solidFill>
                  <a:srgbClr val="396278"/>
                </a:solidFill>
                <a:latin typeface="Arial"/>
                <a:cs typeface="Arial"/>
              </a:rPr>
              <a:t>www.antoinechedebois.com</a:t>
            </a:r>
            <a:endParaRPr lang="en-US" sz="1000" b="1" noProof="0" dirty="0">
              <a:solidFill>
                <a:srgbClr val="396278"/>
              </a:solidFill>
              <a:latin typeface="Arial"/>
              <a:cs typeface="Arial"/>
            </a:endParaRPr>
          </a:p>
        </p:txBody>
      </p:sp>
      <p:sp>
        <p:nvSpPr>
          <p:cNvPr id="54" name="object 35">
            <a:extLst>
              <a:ext uri="{FF2B5EF4-FFF2-40B4-BE49-F238E27FC236}">
                <a16:creationId xmlns:a16="http://schemas.microsoft.com/office/drawing/2014/main" id="{D2960197-1627-1F0A-B346-ABBFEB56DF15}"/>
              </a:ext>
            </a:extLst>
          </p:cNvPr>
          <p:cNvSpPr txBox="1">
            <a:spLocks/>
          </p:cNvSpPr>
          <p:nvPr/>
        </p:nvSpPr>
        <p:spPr>
          <a:xfrm>
            <a:off x="2318385" y="8035632"/>
            <a:ext cx="4431030" cy="11464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marL="0">
              <a:defRPr sz="1200" b="1" i="0">
                <a:solidFill>
                  <a:srgbClr val="3A6278"/>
                </a:solidFill>
                <a:latin typeface="Calibri"/>
                <a:ea typeface="+mn-ea"/>
                <a:cs typeface="Calibri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153670">
              <a:spcBef>
                <a:spcPts val="100"/>
              </a:spcBef>
            </a:pPr>
            <a:r>
              <a:rPr lang="en-US" dirty="0"/>
              <a:t>INSTN</a:t>
            </a:r>
            <a:r>
              <a:rPr lang="en-US" spc="-35" dirty="0"/>
              <a:t> </a:t>
            </a:r>
            <a:r>
              <a:rPr lang="en-US" dirty="0"/>
              <a:t>CEA</a:t>
            </a:r>
            <a:r>
              <a:rPr lang="en-US" spc="-30" dirty="0"/>
              <a:t> </a:t>
            </a:r>
            <a:r>
              <a:rPr lang="en-US" dirty="0"/>
              <a:t>-</a:t>
            </a:r>
            <a:r>
              <a:rPr lang="en-US" spc="-25" dirty="0"/>
              <a:t> </a:t>
            </a:r>
            <a:r>
              <a:rPr lang="en-US" dirty="0" err="1"/>
              <a:t>Saclay</a:t>
            </a:r>
            <a:r>
              <a:rPr lang="en-US" b="0" dirty="0">
                <a:solidFill>
                  <a:srgbClr val="000000"/>
                </a:solidFill>
              </a:rPr>
              <a:t>|</a:t>
            </a:r>
            <a:r>
              <a:rPr lang="en-US" b="0" spc="-25" dirty="0">
                <a:solidFill>
                  <a:srgbClr val="000000"/>
                </a:solidFill>
              </a:rPr>
              <a:t> </a:t>
            </a:r>
            <a:r>
              <a:rPr lang="en-US" b="0" spc="-20" dirty="0">
                <a:solidFill>
                  <a:srgbClr val="000000"/>
                </a:solidFill>
              </a:rPr>
              <a:t>2001</a:t>
            </a:r>
          </a:p>
          <a:p>
            <a:pPr marL="153670">
              <a:spcBef>
                <a:spcPts val="70"/>
              </a:spcBef>
            </a:pPr>
            <a:r>
              <a:rPr lang="en-US" b="0" dirty="0"/>
              <a:t>DEA</a:t>
            </a:r>
            <a:r>
              <a:rPr lang="en-US" b="0" spc="-25" dirty="0"/>
              <a:t> </a:t>
            </a:r>
            <a:r>
              <a:rPr lang="en-US" b="0" dirty="0"/>
              <a:t>Virtual</a:t>
            </a:r>
            <a:r>
              <a:rPr lang="en-US" b="0" spc="-65" dirty="0"/>
              <a:t> </a:t>
            </a:r>
            <a:r>
              <a:rPr lang="en-US" b="0" dirty="0"/>
              <a:t>Reality</a:t>
            </a:r>
            <a:r>
              <a:rPr lang="en-US" b="0" spc="-40" dirty="0"/>
              <a:t> </a:t>
            </a:r>
            <a:r>
              <a:rPr lang="en-US" b="0" dirty="0"/>
              <a:t>and</a:t>
            </a:r>
            <a:r>
              <a:rPr lang="en-US" b="0" spc="-45" dirty="0"/>
              <a:t> </a:t>
            </a:r>
            <a:r>
              <a:rPr lang="en-US" b="0" dirty="0"/>
              <a:t>Mastery</a:t>
            </a:r>
            <a:r>
              <a:rPr lang="en-US" b="0" spc="-40" dirty="0"/>
              <a:t> </a:t>
            </a:r>
            <a:r>
              <a:rPr lang="en-US" b="0" dirty="0"/>
              <a:t>of</a:t>
            </a:r>
            <a:r>
              <a:rPr lang="en-US" b="0" spc="-30" dirty="0"/>
              <a:t> </a:t>
            </a:r>
            <a:r>
              <a:rPr lang="en-US" b="0" dirty="0"/>
              <a:t>complex</a:t>
            </a:r>
            <a:r>
              <a:rPr lang="en-US" b="0" spc="-20" dirty="0"/>
              <a:t> </a:t>
            </a:r>
            <a:r>
              <a:rPr lang="en-US" b="0" spc="-10" dirty="0"/>
              <a:t>Systems</a:t>
            </a:r>
            <a:r>
              <a:rPr lang="en-US" b="0" spc="-25" dirty="0"/>
              <a:t> </a:t>
            </a:r>
            <a:r>
              <a:rPr lang="en-US" b="0" dirty="0"/>
              <a:t>(Master</a:t>
            </a:r>
            <a:r>
              <a:rPr lang="en-US" b="0" spc="-45" dirty="0"/>
              <a:t> </a:t>
            </a:r>
            <a:r>
              <a:rPr lang="en-US" b="0" spc="-10" dirty="0"/>
              <a:t>Degree)</a:t>
            </a:r>
          </a:p>
          <a:p>
            <a:pPr>
              <a:spcBef>
                <a:spcPts val="10"/>
              </a:spcBef>
            </a:pPr>
            <a:endParaRPr lang="en-US" b="0" spc="-10" dirty="0"/>
          </a:p>
          <a:p>
            <a:pPr marL="153670"/>
            <a:r>
              <a:rPr lang="en-US" dirty="0"/>
              <a:t>IUP</a:t>
            </a:r>
            <a:r>
              <a:rPr lang="en-US" spc="-15" dirty="0"/>
              <a:t> </a:t>
            </a:r>
            <a:r>
              <a:rPr lang="en-US" dirty="0"/>
              <a:t>-</a:t>
            </a:r>
            <a:r>
              <a:rPr lang="en-US" spc="-30" dirty="0"/>
              <a:t> </a:t>
            </a:r>
            <a:r>
              <a:rPr lang="en-US" dirty="0"/>
              <a:t>Evry</a:t>
            </a:r>
            <a:r>
              <a:rPr lang="en-US" b="0" dirty="0">
                <a:solidFill>
                  <a:srgbClr val="000000"/>
                </a:solidFill>
              </a:rPr>
              <a:t>|</a:t>
            </a:r>
            <a:r>
              <a:rPr lang="en-US" b="0" spc="-20" dirty="0">
                <a:solidFill>
                  <a:srgbClr val="000000"/>
                </a:solidFill>
              </a:rPr>
              <a:t> 2000</a:t>
            </a:r>
          </a:p>
          <a:p>
            <a:pPr marL="153670">
              <a:spcBef>
                <a:spcPts val="65"/>
              </a:spcBef>
            </a:pPr>
            <a:r>
              <a:rPr lang="en-US" b="0" dirty="0"/>
              <a:t>DESS</a:t>
            </a:r>
            <a:r>
              <a:rPr lang="en-US" b="0" spc="-5" dirty="0"/>
              <a:t> </a:t>
            </a:r>
            <a:r>
              <a:rPr lang="en-US" b="0" spc="-10" dirty="0"/>
              <a:t>Engineering</a:t>
            </a:r>
            <a:r>
              <a:rPr lang="en-US" b="0" spc="-30" dirty="0"/>
              <a:t> </a:t>
            </a:r>
            <a:r>
              <a:rPr lang="en-US" b="0" dirty="0"/>
              <a:t>of</a:t>
            </a:r>
            <a:r>
              <a:rPr lang="en-US" b="0" spc="10" dirty="0"/>
              <a:t> </a:t>
            </a:r>
            <a:r>
              <a:rPr lang="en-US" b="0" spc="-10" dirty="0"/>
              <a:t>Industrial</a:t>
            </a:r>
            <a:r>
              <a:rPr lang="en-US" b="0" spc="-40" dirty="0"/>
              <a:t> </a:t>
            </a:r>
            <a:r>
              <a:rPr lang="en-US" b="0" spc="-10" dirty="0"/>
              <a:t>Systems</a:t>
            </a:r>
            <a:r>
              <a:rPr lang="en-US" b="0" spc="15" dirty="0"/>
              <a:t> </a:t>
            </a:r>
            <a:r>
              <a:rPr lang="en-US" b="0" dirty="0"/>
              <a:t>(Master </a:t>
            </a:r>
            <a:r>
              <a:rPr lang="en-US" b="0" spc="-10" dirty="0"/>
              <a:t>Degree)</a:t>
            </a:r>
          </a:p>
          <a:p>
            <a:endParaRPr lang="en-US" b="0" spc="-10" dirty="0"/>
          </a:p>
        </p:txBody>
      </p:sp>
      <p:grpSp>
        <p:nvGrpSpPr>
          <p:cNvPr id="40" name="object 9"/>
          <p:cNvGrpSpPr/>
          <p:nvPr/>
        </p:nvGrpSpPr>
        <p:grpSpPr>
          <a:xfrm>
            <a:off x="1967324" y="670593"/>
            <a:ext cx="2951480" cy="527050"/>
            <a:chOff x="2067560" y="5463540"/>
            <a:chExt cx="2951480" cy="527050"/>
          </a:xfrm>
        </p:grpSpPr>
        <p:sp>
          <p:nvSpPr>
            <p:cNvPr id="46" name="object 10"/>
            <p:cNvSpPr/>
            <p:nvPr/>
          </p:nvSpPr>
          <p:spPr>
            <a:xfrm>
              <a:off x="2080260" y="5463540"/>
              <a:ext cx="2938780" cy="317500"/>
            </a:xfrm>
            <a:custGeom>
              <a:avLst/>
              <a:gdLst/>
              <a:ahLst/>
              <a:cxnLst/>
              <a:rect l="l" t="t" r="r" b="b"/>
              <a:pathLst>
                <a:path w="2938779" h="317500">
                  <a:moveTo>
                    <a:pt x="2885440" y="0"/>
                  </a:moveTo>
                  <a:lnTo>
                    <a:pt x="0" y="0"/>
                  </a:lnTo>
                  <a:lnTo>
                    <a:pt x="0" y="316992"/>
                  </a:lnTo>
                  <a:lnTo>
                    <a:pt x="2938272" y="316992"/>
                  </a:lnTo>
                  <a:lnTo>
                    <a:pt x="2938272" y="52832"/>
                  </a:lnTo>
                  <a:lnTo>
                    <a:pt x="2885440" y="0"/>
                  </a:lnTo>
                  <a:close/>
                </a:path>
              </a:pathLst>
            </a:custGeom>
            <a:solidFill>
              <a:srgbClr val="3A6278"/>
            </a:solidFill>
          </p:spPr>
          <p:txBody>
            <a:bodyPr wrap="square" lIns="0" tIns="0" rIns="0" bIns="0" rtlCol="0"/>
            <a:lstStyle/>
            <a:p>
              <a:endParaRPr lang="en-US" noProof="0" dirty="0"/>
            </a:p>
          </p:txBody>
        </p:sp>
        <p:sp>
          <p:nvSpPr>
            <p:cNvPr id="47" name="object 11"/>
            <p:cNvSpPr/>
            <p:nvPr/>
          </p:nvSpPr>
          <p:spPr>
            <a:xfrm>
              <a:off x="2067560" y="5785231"/>
              <a:ext cx="253365" cy="205104"/>
            </a:xfrm>
            <a:custGeom>
              <a:avLst/>
              <a:gdLst/>
              <a:ahLst/>
              <a:cxnLst/>
              <a:rect l="l" t="t" r="r" b="b"/>
              <a:pathLst>
                <a:path w="253364" h="205104">
                  <a:moveTo>
                    <a:pt x="0" y="0"/>
                  </a:moveTo>
                  <a:lnTo>
                    <a:pt x="250316" y="204851"/>
                  </a:lnTo>
                  <a:lnTo>
                    <a:pt x="253364" y="27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A4653"/>
            </a:solidFill>
          </p:spPr>
          <p:txBody>
            <a:bodyPr wrap="square" lIns="0" tIns="0" rIns="0" bIns="0" rtlCol="0"/>
            <a:lstStyle/>
            <a:p>
              <a:endParaRPr lang="en-US" noProof="0" dirty="0"/>
            </a:p>
          </p:txBody>
        </p:sp>
      </p:grpSp>
      <p:sp>
        <p:nvSpPr>
          <p:cNvPr id="48" name="object 35"/>
          <p:cNvSpPr txBox="1">
            <a:spLocks noGrp="1"/>
          </p:cNvSpPr>
          <p:nvPr>
            <p:ph type="body" idx="1"/>
          </p:nvPr>
        </p:nvSpPr>
        <p:spPr>
          <a:xfrm>
            <a:off x="2228562" y="1016757"/>
            <a:ext cx="4431030" cy="34291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9705" marR="86360">
              <a:spcBef>
                <a:spcPts val="1655"/>
              </a:spcBef>
            </a:pPr>
            <a:r>
              <a:rPr lang="en-US" sz="1400" noProof="0" dirty="0"/>
              <a:t>Amazon Reverse Logistic Production</a:t>
            </a:r>
            <a:r>
              <a:rPr lang="en-US" b="0" spc="15" dirty="0">
                <a:solidFill>
                  <a:srgbClr val="000000"/>
                </a:solidFill>
              </a:rPr>
              <a:t>: Built and operated worldwide internal application embedded in Zebra scanners for high-volume reverse logistics workflow in an international team.</a:t>
            </a:r>
            <a:br>
              <a:rPr lang="en-US" b="0" spc="15" dirty="0">
                <a:solidFill>
                  <a:srgbClr val="000000"/>
                </a:solidFill>
              </a:rPr>
            </a:br>
            <a:r>
              <a:rPr lang="en-US" spc="15" dirty="0">
                <a:solidFill>
                  <a:srgbClr val="000000"/>
                </a:solidFill>
              </a:rPr>
              <a:t>Impact</a:t>
            </a:r>
            <a:r>
              <a:rPr lang="en-US" b="0" spc="15" dirty="0">
                <a:solidFill>
                  <a:srgbClr val="000000"/>
                </a:solidFill>
              </a:rPr>
              <a:t>: Supported parcel return workflows at </a:t>
            </a:r>
            <a:r>
              <a:rPr lang="en-US" spc="15" dirty="0">
                <a:solidFill>
                  <a:srgbClr val="000000"/>
                </a:solidFill>
              </a:rPr>
              <a:t>100k+ scans/day</a:t>
            </a:r>
            <a:r>
              <a:rPr lang="en-US" b="0" spc="15" dirty="0">
                <a:solidFill>
                  <a:srgbClr val="000000"/>
                </a:solidFill>
              </a:rPr>
              <a:t>.</a:t>
            </a:r>
            <a:br>
              <a:rPr lang="en-US" b="0" spc="15" dirty="0">
                <a:solidFill>
                  <a:srgbClr val="000000"/>
                </a:solidFill>
              </a:rPr>
            </a:br>
            <a:br>
              <a:rPr lang="en-US" b="0" spc="15" dirty="0">
                <a:solidFill>
                  <a:srgbClr val="000000"/>
                </a:solidFill>
              </a:rPr>
            </a:br>
            <a:r>
              <a:rPr lang="fr-FR" sz="1400" dirty="0"/>
              <a:t>High-Traffic </a:t>
            </a:r>
            <a:r>
              <a:rPr lang="fr-FR" sz="1400" dirty="0" err="1"/>
              <a:t>Retail</a:t>
            </a:r>
            <a:r>
              <a:rPr lang="fr-FR" sz="1400" dirty="0"/>
              <a:t> E-commerce Platform</a:t>
            </a:r>
            <a:r>
              <a:rPr lang="en-US" b="0" noProof="0" dirty="0">
                <a:solidFill>
                  <a:srgbClr val="000000"/>
                </a:solidFill>
                <a:latin typeface="Calibri"/>
                <a:cs typeface="Calibri"/>
              </a:rPr>
              <a:t>: Leading delivery and reliability improvements for a large-scale retail e-commerce platform generating </a:t>
            </a:r>
            <a:r>
              <a:rPr lang="en-US" noProof="0" dirty="0">
                <a:solidFill>
                  <a:srgbClr val="000000"/>
                </a:solidFill>
                <a:latin typeface="Calibri"/>
                <a:cs typeface="Calibri"/>
              </a:rPr>
              <a:t>100M€+ annual revenue</a:t>
            </a:r>
            <a:r>
              <a:rPr lang="en-US" b="0" noProof="0" dirty="0">
                <a:solidFill>
                  <a:srgbClr val="000000"/>
                </a:solidFill>
                <a:latin typeface="Calibri"/>
                <a:cs typeface="Calibri"/>
              </a:rPr>
              <a:t>.</a:t>
            </a:r>
            <a:br>
              <a:rPr lang="en-US" b="0" noProof="0" dirty="0">
                <a:solidFill>
                  <a:srgbClr val="000000"/>
                </a:solidFill>
                <a:latin typeface="Calibri"/>
                <a:cs typeface="Calibri"/>
              </a:rPr>
            </a:br>
            <a:r>
              <a:rPr lang="en-US" spc="15" dirty="0">
                <a:solidFill>
                  <a:srgbClr val="000000"/>
                </a:solidFill>
              </a:rPr>
              <a:t>Impact</a:t>
            </a:r>
            <a:r>
              <a:rPr lang="en-US" b="0" spc="15" dirty="0">
                <a:solidFill>
                  <a:srgbClr val="000000"/>
                </a:solidFill>
              </a:rPr>
              <a:t>: Improved team execution, production reliability and technical alignment across frontend, backend, cloud and third-party systems.</a:t>
            </a:r>
            <a:br>
              <a:rPr lang="en-US" b="0" spc="15" dirty="0">
                <a:solidFill>
                  <a:srgbClr val="000000"/>
                </a:solidFill>
              </a:rPr>
            </a:br>
            <a:br>
              <a:rPr lang="en-US" b="0" spc="15" dirty="0">
                <a:solidFill>
                  <a:srgbClr val="000000"/>
                </a:solidFill>
              </a:rPr>
            </a:br>
            <a:r>
              <a:rPr lang="fr-FR" sz="1400" dirty="0"/>
              <a:t>AI-</a:t>
            </a:r>
            <a:r>
              <a:rPr lang="fr-FR" sz="1400" dirty="0" err="1"/>
              <a:t>Assisted</a:t>
            </a:r>
            <a:r>
              <a:rPr lang="fr-FR" sz="1400" dirty="0"/>
              <a:t> </a:t>
            </a:r>
            <a:r>
              <a:rPr lang="fr-FR" sz="1400" dirty="0" err="1"/>
              <a:t>Developer</a:t>
            </a:r>
            <a:r>
              <a:rPr lang="fr-FR" sz="1400" dirty="0"/>
              <a:t> </a:t>
            </a:r>
            <a:r>
              <a:rPr lang="fr-FR" sz="1400" dirty="0" err="1"/>
              <a:t>Productivity</a:t>
            </a:r>
            <a:r>
              <a:rPr lang="fr-FR" sz="1400" dirty="0"/>
              <a:t> Product</a:t>
            </a:r>
            <a:r>
              <a:rPr lang="en-US" b="0" spc="-10" noProof="0" dirty="0">
                <a:solidFill>
                  <a:srgbClr val="000000"/>
                </a:solidFill>
                <a:latin typeface="Calibri"/>
                <a:cs typeface="Calibri"/>
              </a:rPr>
              <a:t>: Designed and built an AI-assisted product to analyze repositories and generate technical insights for engineering teams.</a:t>
            </a:r>
            <a:br>
              <a:rPr lang="en-US" b="0" spc="-10" noProof="0" dirty="0">
                <a:solidFill>
                  <a:srgbClr val="000000"/>
                </a:solidFill>
                <a:latin typeface="Calibri"/>
                <a:cs typeface="Calibri"/>
              </a:rPr>
            </a:br>
            <a:r>
              <a:rPr lang="en-US" spc="15" dirty="0">
                <a:solidFill>
                  <a:srgbClr val="000000"/>
                </a:solidFill>
              </a:rPr>
              <a:t>Impact</a:t>
            </a:r>
            <a:r>
              <a:rPr lang="en-US" b="0" spc="15" dirty="0">
                <a:solidFill>
                  <a:srgbClr val="000000"/>
                </a:solidFill>
              </a:rPr>
              <a:t>: Demonstrates hands-on ownership, modern engineering practices and ability to ship independently.</a:t>
            </a:r>
            <a:br>
              <a:rPr lang="en-US" b="0" spc="15" dirty="0">
                <a:solidFill>
                  <a:srgbClr val="000000"/>
                </a:solidFill>
              </a:rPr>
            </a:br>
            <a:r>
              <a:rPr lang="en-US" b="0" spc="15" dirty="0">
                <a:solidFill>
                  <a:schemeClr val="tx2"/>
                </a:solidFill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www.repoinsightx.com</a:t>
            </a:r>
            <a:endParaRPr lang="en-US" b="0" spc="-20" noProof="0" dirty="0">
              <a:solidFill>
                <a:schemeClr val="tx2"/>
              </a:solidFill>
              <a:latin typeface="Calibri"/>
              <a:cs typeface="Calibri"/>
            </a:endParaRPr>
          </a:p>
        </p:txBody>
      </p:sp>
      <p:sp>
        <p:nvSpPr>
          <p:cNvPr id="53" name="object 7">
            <a:extLst>
              <a:ext uri="{FF2B5EF4-FFF2-40B4-BE49-F238E27FC236}">
                <a16:creationId xmlns:a16="http://schemas.microsoft.com/office/drawing/2014/main" id="{2C9064E1-5D47-D85A-4A34-BAC8FE22A31E}"/>
              </a:ext>
            </a:extLst>
          </p:cNvPr>
          <p:cNvSpPr txBox="1"/>
          <p:nvPr/>
        </p:nvSpPr>
        <p:spPr>
          <a:xfrm>
            <a:off x="2328798" y="682239"/>
            <a:ext cx="24314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800" b="1" noProof="0" dirty="0">
                <a:solidFill>
                  <a:srgbClr val="FFFFFF"/>
                </a:solidFill>
                <a:latin typeface="Calibri"/>
                <a:cs typeface="Calibri"/>
              </a:rPr>
              <a:t>CASE STUDIES</a:t>
            </a:r>
            <a:endParaRPr lang="en-US" sz="1800" noProof="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5815</TotalTime>
  <Words>784</Words>
  <Application>Microsoft Office PowerPoint</Application>
  <PresentationFormat>Format A4 (210 x 297 mm)</PresentationFormat>
  <Paragraphs>71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Arial</vt:lpstr>
      <vt:lpstr>Calibri</vt:lpstr>
      <vt:lpstr>Wingdings</vt:lpstr>
      <vt:lpstr>Office Theme</vt:lpstr>
      <vt:lpstr>Antoine CHEDEBOIS Senior Full Stack Engineer / Hands-on Tech Lead / AWS</vt:lpstr>
      <vt:lpstr>Antoine CHEDEBOIS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Antoine Chédebois CV</dc:title>
  <dc:creator>Antoine Chédebois</dc:creator>
  <cp:keywords>Antoine Chédebois CV</cp:keywords>
  <cp:lastModifiedBy>Adeline C</cp:lastModifiedBy>
  <cp:revision>23</cp:revision>
  <dcterms:created xsi:type="dcterms:W3CDTF">2024-07-09T10:34:54Z</dcterms:created>
  <dcterms:modified xsi:type="dcterms:W3CDTF">2026-07-11T12:37:38Z</dcterms:modified>
  <cp:category>Personal CV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2021-04-11T00:00:00Z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2024-07-09T00:00:00Z</vt:filetime>
  </property>
  <property fmtid="{D5CDD505-2E9C-101B-9397-08002B2CF9AE}" pid="5" name="Producer">
    <vt:lpwstr>Microsoft® PowerPoint® 2019</vt:lpwstr>
  </property>
</Properties>
</file>